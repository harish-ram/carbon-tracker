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316" r:id="rId2"/>
    <p:sldId id="31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8" r:id="rId64"/>
    <p:sldId id="319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77BDD-2D50-48AB-AE96-9C760B2AEAB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F3BFF-E016-49D9-8E55-ED6BA1849B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14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00" b="1">
                <a:solidFill>
                  <a:srgbClr val="005A41"/>
                </a:solidFill>
              </a:defRPr>
            </a:pPr>
            <a:r>
              <a:rPr kumimoji="0" sz="5200" b="1" i="0" u="none" strike="noStrike" kern="1200" cap="none" spc="0" normalizeH="0" baseline="0" noProof="0">
                <a:ln>
                  <a:noFill/>
                </a:ln>
                <a:solidFill>
                  <a:srgbClr val="005A4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Smart Carbon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28463C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28463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Full-Stack Sustainability &amp; Emissions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 Tracks Scope 1, 2, 3 Emissions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 Interactive dashboards &amp; visual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🔐  Secure authentication with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☁️  Cloud Firestore data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⚛️  Built using React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📈  In-depth carbon performance tracking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46C14-BBD5-F58C-2A09-4FCCF5BF639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005A41"/>
                </a:solidFill>
              </a:defRPr>
            </a:pPr>
            <a:r>
              <a:rPr kumimoji="0" sz="4400" b="1" i="0" u="none" strike="noStrike" kern="1200" cap="none" spc="0" normalizeH="0" baseline="0" noProof="0">
                <a:ln>
                  <a:noFill/>
                </a:ln>
                <a:solidFill>
                  <a:srgbClr val="005A41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📄  1. HTML &amp; UI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15743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🎨  2. CSS &amp; Tailwind Styling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5988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⚙️  3. JavaScript ES6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0402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🧩  4. DOM +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4817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⚛️  5. React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8706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🗺️  6. Routing + Firebase + Async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259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 7. Dashboard Analytics &amp; Recharts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48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🧱  8. Full Stack Architecture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0375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🚀  9. Conclusion &amp; Future Enhancements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F4F6BD-5C95-FF8C-EED2-44B11D546323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rPr dirty="0"/>
              <a:t>HTML Deep Dive (Slides 1–10)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In this section we focus on the HTML aspects of the Smart Carbon Footprint &amp; Sustainability Tracker.</a:t>
            </a:r>
          </a:p>
          <a:p>
            <a:pPr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index.html provides the single-page shell that loads the React + TypeScript app.</a:t>
            </a:r>
          </a:p>
          <a:p>
            <a:pPr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components generate semantic structure: navigation, main content and footer.</a:t>
            </a:r>
          </a:p>
          <a:p>
            <a:pPr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Forms, navigation links and dashboard layout are all ultimately rendered as HTML in the browser.</a:t>
            </a:r>
          </a:p>
          <a:p>
            <a:pPr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Each of the next slides shows a small code excerpt (with line numbers) plus an 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1C6A6-2F5A-F981-D3C9-50AB1D151C41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HTML Structure – index.html (Lines 1–6)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&lt;!doctype html&gt;</a:t>
            </a:r>
            <a:br>
              <a:rPr dirty="0"/>
            </a:br>
            <a:r>
              <a:rPr dirty="0"/>
              <a:t>2 &lt;html lang="</a:t>
            </a:r>
            <a:r>
              <a:rPr dirty="0" err="1"/>
              <a:t>en</a:t>
            </a:r>
            <a:r>
              <a:rPr dirty="0"/>
              <a:t>"&gt;</a:t>
            </a:r>
            <a:br>
              <a:rPr dirty="0"/>
            </a:br>
            <a:r>
              <a:rPr dirty="0"/>
              <a:t>3   &lt;head&gt;</a:t>
            </a:r>
            <a:br>
              <a:rPr dirty="0"/>
            </a:br>
            <a:r>
              <a:rPr dirty="0"/>
              <a:t>4     &lt;meta charset="UTF-8" /&gt;</a:t>
            </a:r>
            <a:br>
              <a:rPr dirty="0"/>
            </a:br>
            <a:r>
              <a:rPr dirty="0"/>
              <a:t>5     &lt;meta name="viewport" content="width=device-width, initial-scale=1.0" /&gt;</a:t>
            </a:r>
            <a:br>
              <a:rPr dirty="0"/>
            </a:br>
            <a:r>
              <a:rPr dirty="0"/>
              <a:t>6     &lt;title&gt;Smart Carbon Footprint &amp; Sustainability Tracker&lt;/title&gt;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lang="en-IN"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Lines 1–2 declare an HTML5 document and set the language to English for accessibility and SEO.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Lines 4–5 configure the character encoding and mobile-first viewport behavior.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lang="en-US" dirty="0"/>
              <a:t>Line 6 defines a descriptive page title so the app is recognizable in browser tabs and history.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minimal skeleton is all that is needed for React to take over the UI.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99D979-2585-FCB5-E32A-455EE5FBDEFF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Meta Tags &amp; SEO – index.html (Lines 4–6)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4 &lt;meta charset="UTF-8" /&gt;</a:t>
            </a:r>
            <a:br>
              <a:rPr dirty="0"/>
            </a:br>
            <a:r>
              <a:rPr dirty="0"/>
              <a:t>5 &lt;meta name="viewport" content="width=device-width, initial-scale=1.0" /&gt;</a:t>
            </a:r>
            <a:br>
              <a:rPr dirty="0"/>
            </a:br>
            <a:r>
              <a:rPr dirty="0"/>
              <a:t>6 &lt;meta name="description" content="Smart Carbon Footprint &amp; Sustainability Tracker - Measure, monitor, and reduce business carbon emissions with advanced analytics and recommendations." /&gt;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charset="UTF-8" avoids garbled text by supporting a wide range of characters and symbols.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viewport meta tag ensures the layout scales correctly on phones, tablets and desktops.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description summarizes the app’s purpose, improving search engine ranking and link previews.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Together these tags make the HTML document robust, responsive and discoverable.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E19EA-7BB9-94EC-3AB2-AFAE6342B6F3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Favicon &amp; Fonts – index.html (Lines 7–10)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7  &lt;link </a:t>
            </a:r>
            <a:r>
              <a:rPr dirty="0" err="1"/>
              <a:t>rel</a:t>
            </a:r>
            <a:r>
              <a:rPr dirty="0"/>
              <a:t>="icon" </a:t>
            </a:r>
            <a:r>
              <a:rPr dirty="0" err="1"/>
              <a:t>href</a:t>
            </a:r>
            <a:r>
              <a:rPr dirty="0"/>
              <a:t>="</a:t>
            </a:r>
            <a:r>
              <a:rPr dirty="0" err="1"/>
              <a:t>data:image</a:t>
            </a:r>
            <a:r>
              <a:rPr dirty="0"/>
              <a:t>/</a:t>
            </a:r>
            <a:r>
              <a:rPr dirty="0" err="1"/>
              <a:t>svg+xml</a:t>
            </a:r>
            <a:r>
              <a:rPr dirty="0"/>
              <a:t>,&lt;</a:t>
            </a:r>
            <a:r>
              <a:rPr dirty="0" err="1"/>
              <a:t>svg</a:t>
            </a:r>
            <a:r>
              <a:rPr dirty="0"/>
              <a:t> </a:t>
            </a:r>
            <a:r>
              <a:rPr dirty="0" err="1"/>
              <a:t>xmlns</a:t>
            </a:r>
            <a:r>
              <a:rPr dirty="0"/>
              <a:t>=%22http://www.w3.org/2000/svg%22 </a:t>
            </a:r>
            <a:r>
              <a:rPr dirty="0" err="1"/>
              <a:t>viewBox</a:t>
            </a:r>
            <a:r>
              <a:rPr dirty="0"/>
              <a:t>=%220 0 100 100%22&gt;&lt;text y=%22.9em%22 font-size=%2290%22&gt;🌱&lt;/text&gt;&lt;/</a:t>
            </a:r>
            <a:r>
              <a:rPr dirty="0" err="1"/>
              <a:t>svg</a:t>
            </a:r>
            <a:r>
              <a:rPr dirty="0"/>
              <a:t>&gt;" /&gt;</a:t>
            </a:r>
            <a:br>
              <a:rPr dirty="0"/>
            </a:br>
            <a:r>
              <a:rPr dirty="0"/>
              <a:t>8  &lt;link </a:t>
            </a:r>
            <a:r>
              <a:rPr dirty="0" err="1"/>
              <a:t>rel</a:t>
            </a:r>
            <a:r>
              <a:rPr dirty="0"/>
              <a:t>="</a:t>
            </a:r>
            <a:r>
              <a:rPr dirty="0" err="1"/>
              <a:t>preconnect</a:t>
            </a:r>
            <a:r>
              <a:rPr dirty="0"/>
              <a:t>" </a:t>
            </a:r>
            <a:r>
              <a:rPr dirty="0" err="1"/>
              <a:t>href</a:t>
            </a:r>
            <a:r>
              <a:rPr dirty="0"/>
              <a:t>="https://fonts.googleapis.com" /&gt;</a:t>
            </a:r>
            <a:br>
              <a:rPr dirty="0"/>
            </a:br>
            <a:r>
              <a:rPr dirty="0"/>
              <a:t>9  &lt;link </a:t>
            </a:r>
            <a:r>
              <a:rPr dirty="0" err="1"/>
              <a:t>rel</a:t>
            </a:r>
            <a:r>
              <a:rPr dirty="0"/>
              <a:t>="</a:t>
            </a:r>
            <a:r>
              <a:rPr dirty="0" err="1"/>
              <a:t>preconnect</a:t>
            </a:r>
            <a:r>
              <a:rPr dirty="0"/>
              <a:t>" </a:t>
            </a:r>
            <a:r>
              <a:rPr dirty="0" err="1"/>
              <a:t>href</a:t>
            </a:r>
            <a:r>
              <a:rPr dirty="0"/>
              <a:t>="https://fonts.gstatic.com" </a:t>
            </a:r>
            <a:r>
              <a:rPr dirty="0" err="1"/>
              <a:t>crossorigin</a:t>
            </a:r>
            <a:r>
              <a:rPr dirty="0"/>
              <a:t> /&gt;</a:t>
            </a:r>
            <a:br>
              <a:rPr dirty="0"/>
            </a:br>
            <a:r>
              <a:rPr dirty="0"/>
              <a:t>10 &lt;link </a:t>
            </a:r>
            <a:r>
              <a:rPr dirty="0" err="1"/>
              <a:t>href</a:t>
            </a:r>
            <a:r>
              <a:rPr dirty="0"/>
              <a:t>="https://fonts.googleapis.com/css2?family=Inter:wght@400;500;600;700&amp;family=Montserrat:wght@600;700;800&amp;display=swap" </a:t>
            </a:r>
            <a:r>
              <a:rPr dirty="0" err="1"/>
              <a:t>rel</a:t>
            </a:r>
            <a:r>
              <a:rPr dirty="0"/>
              <a:t>="stylesheet" /&gt;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 7 defines a lightweight inline SVG favicon using a 🌱 emoji to visually represent sustainability.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Lines 8–9 </a:t>
            </a:r>
            <a:r>
              <a:rPr dirty="0" err="1"/>
              <a:t>preconnect</a:t>
            </a:r>
            <a:r>
              <a:rPr dirty="0"/>
              <a:t> to Google Fonts domains, reducing latency when fetching font files.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 10 loads the Inter and Montserrat font families, giving the dashboard a modern, readable look.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These external resources enhance branding and typography without heavy image assets.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FFBF6-4C27-A7FE-D669-D8DD31403B3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React Mount Point – index.html (Lines 13–15)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13   &lt;/head&gt;</a:t>
            </a:r>
            <a:br>
              <a:rPr dirty="0"/>
            </a:br>
            <a:r>
              <a:rPr dirty="0"/>
              <a:t>14   &lt;body&gt;</a:t>
            </a:r>
            <a:br>
              <a:rPr dirty="0"/>
            </a:br>
            <a:r>
              <a:rPr dirty="0"/>
              <a:t>15     &lt;div id="root"&gt;&lt;/div&gt;</a:t>
            </a:r>
            <a:br>
              <a:rPr dirty="0"/>
            </a:br>
            <a:r>
              <a:rPr dirty="0"/>
              <a:t>16     &lt;script type="module" </a:t>
            </a:r>
            <a:r>
              <a:rPr dirty="0" err="1"/>
              <a:t>src</a:t>
            </a:r>
            <a:r>
              <a:rPr dirty="0"/>
              <a:t>="/</a:t>
            </a:r>
            <a:r>
              <a:rPr dirty="0" err="1"/>
              <a:t>src</a:t>
            </a:r>
            <a:r>
              <a:rPr dirty="0"/>
              <a:t>/</a:t>
            </a:r>
            <a:r>
              <a:rPr dirty="0" err="1"/>
              <a:t>main.tsx</a:t>
            </a:r>
            <a:r>
              <a:rPr dirty="0"/>
              <a:t>"&gt;&lt;/script&gt;</a:t>
            </a:r>
            <a:br>
              <a:rPr dirty="0"/>
            </a:br>
            <a:r>
              <a:rPr dirty="0"/>
              <a:t>17   &lt;/body&gt;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Line 15 declares &lt;div id="root"&gt;&lt;/div&gt;, the single container where the React app will render.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Li</a:t>
            </a:r>
            <a:r>
              <a:rPr lang="en-IN" dirty="0"/>
              <a:t>ne 16 </a:t>
            </a:r>
            <a:r>
              <a:rPr dirty="0"/>
              <a:t>loads </a:t>
            </a:r>
            <a:r>
              <a:rPr dirty="0" err="1"/>
              <a:t>main.tsx</a:t>
            </a:r>
            <a:r>
              <a:rPr dirty="0"/>
              <a:t> as an ES module; Vite compiles this entry file from TypeScript to JavaScript.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ReactDOM</a:t>
            </a:r>
            <a:r>
              <a:rPr dirty="0"/>
              <a:t> (inside </a:t>
            </a:r>
            <a:r>
              <a:rPr dirty="0" err="1"/>
              <a:t>main.tsx</a:t>
            </a:r>
            <a:r>
              <a:rPr dirty="0"/>
              <a:t>) attaches the virtual DOM tree to the #root element.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pattern is the foundation for single-page applications: one HTML shell, dynamic JS-driven content.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CB71F-242F-70E5-1226-B8AF09830988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Semantic Layout via React – App.tsx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18 export const App: </a:t>
            </a:r>
            <a:r>
              <a:rPr dirty="0" err="1"/>
              <a:t>React.FC</a:t>
            </a:r>
            <a:r>
              <a:rPr dirty="0"/>
              <a:t> = () =&gt; {</a:t>
            </a:r>
            <a:br>
              <a:rPr dirty="0"/>
            </a:br>
            <a:r>
              <a:rPr dirty="0"/>
              <a:t>24   return (</a:t>
            </a:r>
            <a:br>
              <a:rPr dirty="0"/>
            </a:br>
            <a:r>
              <a:rPr dirty="0"/>
              <a:t>25     &lt;Router&gt;</a:t>
            </a:r>
            <a:br>
              <a:rPr dirty="0"/>
            </a:br>
            <a:r>
              <a:rPr dirty="0"/>
              <a:t>26       &lt;div </a:t>
            </a:r>
            <a:r>
              <a:rPr dirty="0" err="1"/>
              <a:t>className</a:t>
            </a:r>
            <a:r>
              <a:rPr dirty="0"/>
              <a:t>="flex flex-col min-h-screen"&gt;</a:t>
            </a:r>
            <a:br>
              <a:rPr dirty="0"/>
            </a:br>
            <a:r>
              <a:rPr dirty="0"/>
              <a:t>27         &lt;Navbar /&gt;</a:t>
            </a:r>
            <a:br>
              <a:rPr dirty="0"/>
            </a:br>
            <a:r>
              <a:rPr dirty="0"/>
              <a:t>28         &lt;main </a:t>
            </a:r>
            <a:r>
              <a:rPr dirty="0" err="1"/>
              <a:t>className</a:t>
            </a:r>
            <a:r>
              <a:rPr dirty="0"/>
              <a:t>="flex-1"&gt;</a:t>
            </a:r>
            <a:br>
              <a:rPr dirty="0"/>
            </a:br>
            <a:r>
              <a:rPr dirty="0"/>
              <a:t>29           &lt;Routes&gt;{/* page content */}&lt;/Routes&gt;</a:t>
            </a:r>
            <a:br>
              <a:rPr dirty="0"/>
            </a:br>
            <a:r>
              <a:rPr dirty="0"/>
              <a:t>30         &lt;/main&gt;</a:t>
            </a:r>
            <a:br>
              <a:rPr dirty="0"/>
            </a:br>
            <a:r>
              <a:rPr dirty="0"/>
              <a:t>31         &lt;Footer /&gt;</a:t>
            </a:r>
            <a:br>
              <a:rPr dirty="0"/>
            </a:br>
            <a:r>
              <a:rPr dirty="0"/>
              <a:t>32       &lt;/div&gt;</a:t>
            </a:r>
            <a:br>
              <a:rPr dirty="0"/>
            </a:br>
            <a:r>
              <a:rPr dirty="0"/>
              <a:t>33     &lt;/Router&gt;</a:t>
            </a:r>
            <a:br>
              <a:rPr dirty="0"/>
            </a:br>
            <a:r>
              <a:rPr dirty="0"/>
              <a:t>34   );</a:t>
            </a:r>
            <a:br>
              <a:rPr dirty="0"/>
            </a:br>
            <a:r>
              <a:rPr dirty="0"/>
              <a:t>35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Although index.html is minimal, </a:t>
            </a:r>
            <a:r>
              <a:rPr dirty="0" err="1"/>
              <a:t>App.tsx</a:t>
            </a:r>
            <a:r>
              <a:rPr dirty="0"/>
              <a:t> introduces semantic structure: navigation, main content and footer.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&lt;Navbar /&gt; and &lt;Footer /&gt; correspond conceptually to &lt;nav&gt; and &lt;footer&gt; HTML sections.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&lt;main&gt; element wraps the routed page content and grows to fill the viewport height.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keeps HTML semantics while leveraging React components for composition and reusability.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3E2730-EA9A-3B0E-2F7E-830679601217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Login Form Structure – Login.tsx (Lines 75–84)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75  &lt;form </a:t>
            </a:r>
            <a:r>
              <a:rPr dirty="0" err="1"/>
              <a:t>onSubmit</a:t>
            </a:r>
            <a:r>
              <a:rPr dirty="0"/>
              <a:t>={</a:t>
            </a:r>
            <a:r>
              <a:rPr dirty="0" err="1"/>
              <a:t>handleSubmit</a:t>
            </a:r>
            <a:r>
              <a:rPr dirty="0"/>
              <a:t>} </a:t>
            </a:r>
            <a:r>
              <a:rPr dirty="0" err="1"/>
              <a:t>className</a:t>
            </a:r>
            <a:r>
              <a:rPr dirty="0"/>
              <a:t>="space-y-4"&gt;</a:t>
            </a:r>
            <a:br>
              <a:rPr dirty="0"/>
            </a:br>
            <a:r>
              <a:rPr dirty="0"/>
              <a:t>76    &lt;input</a:t>
            </a:r>
            <a:br>
              <a:rPr dirty="0"/>
            </a:br>
            <a:r>
              <a:rPr dirty="0"/>
              <a:t>77      name="email"</a:t>
            </a:r>
            <a:br>
              <a:rPr dirty="0"/>
            </a:br>
            <a:r>
              <a:rPr dirty="0"/>
              <a:t>78      type="email"</a:t>
            </a:r>
            <a:br>
              <a:rPr dirty="0"/>
            </a:br>
            <a:r>
              <a:rPr dirty="0"/>
              <a:t>79      value={</a:t>
            </a:r>
            <a:r>
              <a:rPr dirty="0" err="1"/>
              <a:t>formData.email</a:t>
            </a:r>
            <a:r>
              <a:rPr dirty="0"/>
              <a:t>}</a:t>
            </a:r>
            <a:br>
              <a:rPr dirty="0"/>
            </a:br>
            <a:r>
              <a:rPr dirty="0"/>
              <a:t>80      </a:t>
            </a:r>
            <a:r>
              <a:rPr dirty="0" err="1"/>
              <a:t>onChange</a:t>
            </a:r>
            <a:r>
              <a:rPr dirty="0"/>
              <a:t>={</a:t>
            </a:r>
            <a:r>
              <a:rPr dirty="0" err="1"/>
              <a:t>handleChange</a:t>
            </a:r>
            <a:r>
              <a:rPr dirty="0"/>
              <a:t>}</a:t>
            </a:r>
            <a:br>
              <a:rPr dirty="0"/>
            </a:br>
            <a:r>
              <a:rPr dirty="0"/>
              <a:t>81      required</a:t>
            </a:r>
            <a:br>
              <a:rPr dirty="0"/>
            </a:br>
            <a:r>
              <a:rPr dirty="0"/>
              <a:t>82    /&gt;</a:t>
            </a:r>
            <a:br>
              <a:rPr dirty="0"/>
            </a:br>
            <a:r>
              <a:rPr dirty="0"/>
              <a:t>83    &lt;input</a:t>
            </a:r>
            <a:br>
              <a:rPr dirty="0"/>
            </a:br>
            <a:r>
              <a:rPr dirty="0"/>
              <a:t>84      name="password" type="password" value={</a:t>
            </a:r>
            <a:r>
              <a:rPr dirty="0" err="1"/>
              <a:t>formData.password</a:t>
            </a:r>
            <a:r>
              <a:rPr dirty="0"/>
              <a:t>} </a:t>
            </a:r>
            <a:r>
              <a:rPr dirty="0" err="1"/>
              <a:t>onChange</a:t>
            </a:r>
            <a:r>
              <a:rPr dirty="0"/>
              <a:t>={</a:t>
            </a:r>
            <a:r>
              <a:rPr dirty="0" err="1"/>
              <a:t>handleChange</a:t>
            </a:r>
            <a:r>
              <a:rPr dirty="0"/>
              <a:t>} required /&gt;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JSX compiles to a regular HTML &lt;form&gt; with two &lt;input&gt; fields for email and password.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Each input has name, type and required attributes, enabling both browser-level and custom validation.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value and </a:t>
            </a:r>
            <a:r>
              <a:rPr dirty="0" err="1"/>
              <a:t>onChange</a:t>
            </a:r>
            <a:r>
              <a:rPr dirty="0"/>
              <a:t> make the inputs controlled components driven by React state.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Structurally, this mirrors a classic HTML form but with added interactivity and type safety.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0BC3BF-0ADF-259A-5726-37BB7A5E54E1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Navigation Links – Navbar.tsx (Lines 48–55)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0403"/>
          </a:xfrm>
        </p:spPr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48 const </a:t>
            </a:r>
            <a:r>
              <a:rPr dirty="0" err="1"/>
              <a:t>navLinks</a:t>
            </a:r>
            <a:r>
              <a:rPr dirty="0"/>
              <a:t> = [</a:t>
            </a:r>
            <a:br>
              <a:rPr dirty="0"/>
            </a:br>
            <a:r>
              <a:rPr dirty="0"/>
              <a:t>49   { label: "Dashboard", </a:t>
            </a:r>
            <a:r>
              <a:rPr dirty="0" err="1"/>
              <a:t>href</a:t>
            </a:r>
            <a:r>
              <a:rPr dirty="0"/>
              <a:t>: "/" },</a:t>
            </a:r>
            <a:br>
              <a:rPr dirty="0"/>
            </a:br>
            <a:r>
              <a:rPr dirty="0"/>
              <a:t>50   { label: "Data Entry", </a:t>
            </a:r>
            <a:r>
              <a:rPr dirty="0" err="1"/>
              <a:t>href</a:t>
            </a:r>
            <a:r>
              <a:rPr dirty="0"/>
              <a:t>: "/data-entry" },</a:t>
            </a:r>
            <a:br>
              <a:rPr dirty="0"/>
            </a:br>
            <a:r>
              <a:rPr dirty="0"/>
              <a:t>51   { label: "Calculator", </a:t>
            </a:r>
            <a:r>
              <a:rPr dirty="0" err="1"/>
              <a:t>href</a:t>
            </a:r>
            <a:r>
              <a:rPr dirty="0"/>
              <a:t>: "/calculator" },</a:t>
            </a:r>
            <a:br>
              <a:rPr dirty="0"/>
            </a:br>
            <a:r>
              <a:rPr dirty="0"/>
              <a:t>52   { label: "Reports", </a:t>
            </a:r>
            <a:r>
              <a:rPr dirty="0" err="1"/>
              <a:t>href</a:t>
            </a:r>
            <a:r>
              <a:rPr dirty="0"/>
              <a:t>: "/reports" },</a:t>
            </a:r>
            <a:br>
              <a:rPr dirty="0"/>
            </a:br>
            <a:r>
              <a:rPr dirty="0"/>
              <a:t>53 ];</a:t>
            </a:r>
            <a:br>
              <a:rPr dirty="0"/>
            </a:br>
            <a:r>
              <a:rPr dirty="0"/>
              <a:t>54 ...</a:t>
            </a:r>
            <a:br>
              <a:rPr dirty="0"/>
            </a:br>
            <a:r>
              <a:rPr dirty="0"/>
              <a:t>55 {</a:t>
            </a:r>
            <a:r>
              <a:rPr dirty="0" err="1"/>
              <a:t>navLinks.map</a:t>
            </a:r>
            <a:r>
              <a:rPr dirty="0"/>
              <a:t>(link =&gt; (</a:t>
            </a:r>
            <a:br>
              <a:rPr dirty="0"/>
            </a:br>
            <a:r>
              <a:rPr dirty="0"/>
              <a:t>56   &lt;Link key={</a:t>
            </a:r>
            <a:r>
              <a:rPr dirty="0" err="1"/>
              <a:t>link.href</a:t>
            </a:r>
            <a:r>
              <a:rPr dirty="0"/>
              <a:t>} to={</a:t>
            </a:r>
            <a:r>
              <a:rPr dirty="0" err="1"/>
              <a:t>link.href</a:t>
            </a:r>
            <a:r>
              <a:rPr dirty="0"/>
              <a:t>} </a:t>
            </a:r>
            <a:r>
              <a:rPr dirty="0" err="1"/>
              <a:t>className</a:t>
            </a:r>
            <a:r>
              <a:rPr dirty="0"/>
              <a:t>="px-2.5 py-2 rounded-lg"&gt;</a:t>
            </a:r>
            <a:br>
              <a:rPr dirty="0"/>
            </a:br>
            <a:r>
              <a:rPr dirty="0"/>
              <a:t>57     {</a:t>
            </a:r>
            <a:r>
              <a:rPr dirty="0" err="1"/>
              <a:t>link.label</a:t>
            </a:r>
            <a:r>
              <a:rPr dirty="0"/>
              <a:t>}</a:t>
            </a:r>
            <a:br>
              <a:rPr dirty="0"/>
            </a:br>
            <a:r>
              <a:rPr dirty="0"/>
              <a:t>58   &lt;/Link&gt;</a:t>
            </a:r>
            <a:br>
              <a:rPr dirty="0"/>
            </a:br>
            <a:r>
              <a:rPr dirty="0"/>
              <a:t>59 ))}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navLinks</a:t>
            </a:r>
            <a:r>
              <a:rPr dirty="0"/>
              <a:t> is a simple JavaScript array that describes the navigation structure.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map call generates a series of &lt;Link&gt; elements which render to &lt;a&gt; tags in the DOM.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Visually and structurally, this behaves like an HTML navigation list (&lt;ul&gt;&lt;li&gt;&lt;a&gt;…&lt;/a&gt;&lt;/li&gt;&lt;/ul&gt;).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Defining links in data form makes the navigation easy to extend or modify.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D853C9-4040-F7ED-AF98-170C1D469315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Dashboard Layout – Dashboard.tsx (Excerpt)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20 return (</a:t>
            </a:r>
            <a:br>
              <a:rPr dirty="0"/>
            </a:br>
            <a:r>
              <a:rPr dirty="0"/>
              <a:t>21   &lt;div </a:t>
            </a:r>
            <a:r>
              <a:rPr dirty="0" err="1"/>
              <a:t>className</a:t>
            </a:r>
            <a:r>
              <a:rPr dirty="0"/>
              <a:t>="grid grid-cols-1 md:grid-cols-3 gap-6"&gt;</a:t>
            </a:r>
            <a:br>
              <a:rPr dirty="0"/>
            </a:br>
            <a:r>
              <a:rPr dirty="0"/>
              <a:t>22     &lt;</a:t>
            </a:r>
            <a:r>
              <a:rPr dirty="0" err="1"/>
              <a:t>KPICard</a:t>
            </a:r>
            <a:r>
              <a:rPr dirty="0"/>
              <a:t> ... /&gt;</a:t>
            </a:r>
            <a:br>
              <a:rPr dirty="0"/>
            </a:br>
            <a:r>
              <a:rPr dirty="0"/>
              <a:t>23     &lt;</a:t>
            </a:r>
            <a:r>
              <a:rPr dirty="0" err="1"/>
              <a:t>KPICard</a:t>
            </a:r>
            <a:r>
              <a:rPr dirty="0"/>
              <a:t> ... /&gt;</a:t>
            </a:r>
            <a:br>
              <a:rPr dirty="0"/>
            </a:br>
            <a:r>
              <a:rPr dirty="0"/>
              <a:t>24     &lt;</a:t>
            </a:r>
            <a:r>
              <a:rPr dirty="0" err="1"/>
              <a:t>KPICard</a:t>
            </a:r>
            <a:r>
              <a:rPr dirty="0"/>
              <a:t> ... /&gt;</a:t>
            </a:r>
            <a:br>
              <a:rPr dirty="0"/>
            </a:br>
            <a:r>
              <a:rPr dirty="0"/>
              <a:t>25   &lt;/div&gt;</a:t>
            </a:r>
            <a:br>
              <a:rPr dirty="0"/>
            </a:br>
            <a:r>
              <a:rPr dirty="0"/>
              <a:t>26 );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&lt;div&gt; acts as a semantic section of the page that holds KPI cards in a grid.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Tailwind classes translate to CSS grid properties in the final HTML and CSS.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On small screens this renders as a single column; on medium and above it becomes three columns.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Even though this is JSX, the resulting HTML is a standard &lt;div&gt; with children elements.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065E69-7B48-B6CE-4E32-10CBDE5C92EA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rPr dirty="0"/>
              <a:t>HTML Section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Across these HTML-focused slides, the Smart Carbon Tracker demonstrates:</a:t>
            </a:r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A minimal but well-structured index.html shell that hands control to React.</a:t>
            </a:r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Semantic page structure created via components like Navbar, main content and Footer.</a:t>
            </a:r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Forms, navigation links and dashboard grids rendered as standard HTML underneath JSX.</a:t>
            </a:r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Meta tags, fonts and favicon delivering a professional, responsive and branded experience.</a:t>
            </a:r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buFont typeface="Courier New" panose="02070309020205020404" pitchFamily="49" charset="0"/>
              <a:buChar char="o"/>
              <a:defRPr sz="1800">
                <a:solidFill>
                  <a:srgbClr val="1E1E1E"/>
                </a:solidFill>
              </a:defRPr>
            </a:pPr>
            <a:r>
              <a:rPr dirty="0"/>
              <a:t>In the next sections, we build on this foundation with CSS, JavaScript, TypeScript and React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702AC1-AE74-C8D8-A406-AE4C16DC7300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CSS Architecture Overview – Tailwind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</a:t>
            </a:r>
            <a:r>
              <a:rPr dirty="0" err="1"/>
              <a:t>module.exports</a:t>
            </a:r>
            <a:r>
              <a:rPr dirty="0"/>
              <a:t> = {</a:t>
            </a:r>
            <a:br>
              <a:rPr dirty="0"/>
            </a:br>
            <a:r>
              <a:rPr dirty="0"/>
              <a:t>2   </a:t>
            </a:r>
            <a:r>
              <a:rPr dirty="0" err="1"/>
              <a:t>darkMode</a:t>
            </a:r>
            <a:r>
              <a:rPr dirty="0"/>
              <a:t>: "class",</a:t>
            </a:r>
            <a:br>
              <a:rPr dirty="0"/>
            </a:br>
            <a:r>
              <a:rPr dirty="0"/>
              <a:t>3   content: ["./index.html", "./</a:t>
            </a:r>
            <a:r>
              <a:rPr dirty="0" err="1"/>
              <a:t>src</a:t>
            </a:r>
            <a:r>
              <a:rPr dirty="0"/>
              <a:t>/**/*.{</a:t>
            </a:r>
            <a:r>
              <a:rPr dirty="0" err="1"/>
              <a:t>js,ts,jsx,tsx</a:t>
            </a:r>
            <a:r>
              <a:rPr dirty="0"/>
              <a:t>}"],</a:t>
            </a:r>
            <a:br>
              <a:rPr dirty="0"/>
            </a:br>
            <a:r>
              <a:rPr dirty="0"/>
              <a:t>4   theme: { extend: {} },</a:t>
            </a:r>
            <a:br>
              <a:rPr dirty="0"/>
            </a:br>
            <a:r>
              <a:rPr dirty="0"/>
              <a:t>5   plugins: []</a:t>
            </a:r>
            <a:br>
              <a:rPr dirty="0"/>
            </a:br>
            <a:r>
              <a:rPr dirty="0"/>
              <a:t>6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Tailwind is configured in tailwind.config.js, controlling dark mode, scanning paths, and theme extension.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darkMode</a:t>
            </a:r>
            <a:r>
              <a:rPr dirty="0"/>
              <a:t>: "class" means dark mode is toggled using a CSS class, not media queries.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content array ensures unused CSS is purged for performance.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config forms the base styling engine of the entire project.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A5399-932A-1800-649E-69EBBDD14D16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CSS Selectors via Utility Classes (globals.css)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22 .card {</a:t>
            </a:r>
            <a:br>
              <a:rPr dirty="0"/>
            </a:br>
            <a:r>
              <a:rPr dirty="0"/>
              <a:t>23   @apply </a:t>
            </a:r>
            <a:r>
              <a:rPr dirty="0" err="1"/>
              <a:t>bg</a:t>
            </a:r>
            <a:r>
              <a:rPr dirty="0"/>
              <a:t>-white dark:bg-neutral-800;</a:t>
            </a:r>
            <a:br>
              <a:rPr dirty="0"/>
            </a:br>
            <a:r>
              <a:rPr dirty="0"/>
              <a:t>24   @apply rounded-lg border p-6;</a:t>
            </a:r>
            <a:br>
              <a:rPr dirty="0"/>
            </a:br>
            <a:r>
              <a:rPr dirty="0"/>
              <a:t>25   @apply border-neutral-200 dark:border-neutral-700;</a:t>
            </a:r>
            <a:br>
              <a:rPr dirty="0"/>
            </a:br>
            <a:r>
              <a:rPr dirty="0"/>
              <a:t>26 }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Instead of raw CSS selectors, Tailwind utility classes are composed using @apply.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creates reusable styled components while retaining Tailwind’s design consistency.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.card class is used throughout the dashboard for KPI blocks and containers.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Dark mode variants ensure UI consistency in both themes.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A77129-8F85-0D03-C521-8482C504F195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Box Model – Spacing, Borders, Shadows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45 .</a:t>
            </a:r>
            <a:r>
              <a:rPr dirty="0" err="1"/>
              <a:t>btn</a:t>
            </a:r>
            <a:r>
              <a:rPr dirty="0"/>
              <a:t>-primary {</a:t>
            </a:r>
            <a:br>
              <a:rPr dirty="0"/>
            </a:br>
            <a:r>
              <a:rPr dirty="0"/>
              <a:t>46   @apply px-4 py-2 rounded-lg;</a:t>
            </a:r>
            <a:br>
              <a:rPr dirty="0"/>
            </a:br>
            <a:r>
              <a:rPr dirty="0"/>
              <a:t>47   @apply bg-primary-600 text-white;</a:t>
            </a:r>
            <a:br>
              <a:rPr dirty="0"/>
            </a:br>
            <a:r>
              <a:rPr dirty="0"/>
              <a:t>48   @apply hover:bg-primary-700 active:scale-95;</a:t>
            </a:r>
            <a:br>
              <a:rPr dirty="0"/>
            </a:br>
            <a:r>
              <a:rPr dirty="0"/>
              <a:t>49 }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px-4, py-2 set padding, contributing to the CSS box model.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rounded-lg applies a consistent border radius used across the UI.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Hover and active states provide micro-interactions for better usability.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button style is reused on forms, modals, and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93654-A406-DB1E-6658-FC7DA95D9391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Flexbox – Navbar Layout (Navbar.tsx)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99 &lt;div </a:t>
            </a:r>
            <a:r>
              <a:rPr dirty="0" err="1"/>
              <a:t>className</a:t>
            </a:r>
            <a:r>
              <a:rPr dirty="0"/>
              <a:t>="flex items-center justify-between px-4 py-3"&gt;</a:t>
            </a:r>
            <a:br>
              <a:rPr dirty="0"/>
            </a:br>
            <a:r>
              <a:rPr dirty="0"/>
              <a:t>100   &lt;Logo /&gt;</a:t>
            </a:r>
            <a:br>
              <a:rPr dirty="0"/>
            </a:br>
            <a:r>
              <a:rPr dirty="0"/>
              <a:t>101   &lt;nav </a:t>
            </a:r>
            <a:r>
              <a:rPr dirty="0" err="1"/>
              <a:t>className</a:t>
            </a:r>
            <a:r>
              <a:rPr dirty="0"/>
              <a:t>="hidden </a:t>
            </a:r>
            <a:r>
              <a:rPr dirty="0" err="1"/>
              <a:t>md:flex</a:t>
            </a:r>
            <a:r>
              <a:rPr dirty="0"/>
              <a:t> gap-4"&gt;</a:t>
            </a:r>
            <a:br>
              <a:rPr dirty="0"/>
            </a:br>
            <a:r>
              <a:rPr dirty="0"/>
              <a:t>102     {/* links */}</a:t>
            </a:r>
            <a:br>
              <a:rPr dirty="0"/>
            </a:br>
            <a:r>
              <a:rPr dirty="0"/>
              <a:t>103   &lt;/nav&gt;</a:t>
            </a:r>
            <a:br>
              <a:rPr dirty="0"/>
            </a:br>
            <a:r>
              <a:rPr dirty="0"/>
              <a:t>104 &lt;/div&gt;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Flexbox centers navbar items vertically and spreads them horizontally.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gap-4 ensures consistent spacing between the navigation links.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Mobile responsiveness is achieved using </a:t>
            </a:r>
            <a:r>
              <a:rPr dirty="0" err="1"/>
              <a:t>md:flex</a:t>
            </a:r>
            <a:r>
              <a:rPr dirty="0"/>
              <a:t> to hide/show menus.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forms the backbone of the application's responsive navigation bar.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1DB9A5-E710-440A-0544-BB0B54C5E8C2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CSS Grid – Dashboard Card Layout (Dashboard.tsx Lines 20–25)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20 &lt;div </a:t>
            </a:r>
            <a:r>
              <a:rPr dirty="0" err="1"/>
              <a:t>className</a:t>
            </a:r>
            <a:r>
              <a:rPr dirty="0"/>
              <a:t>="grid grid-cols-1 md:grid-cols-3 gap-6"&gt;</a:t>
            </a:r>
            <a:br>
              <a:rPr dirty="0"/>
            </a:br>
            <a:r>
              <a:rPr dirty="0"/>
              <a:t>21   &lt;</a:t>
            </a:r>
            <a:r>
              <a:rPr dirty="0" err="1"/>
              <a:t>KPICard</a:t>
            </a:r>
            <a:r>
              <a:rPr dirty="0"/>
              <a:t> /&gt;</a:t>
            </a:r>
            <a:br>
              <a:rPr dirty="0"/>
            </a:br>
            <a:r>
              <a:rPr dirty="0"/>
              <a:t>22   &lt;</a:t>
            </a:r>
            <a:r>
              <a:rPr dirty="0" err="1"/>
              <a:t>KPICard</a:t>
            </a:r>
            <a:r>
              <a:rPr dirty="0"/>
              <a:t> /&gt;</a:t>
            </a:r>
            <a:br>
              <a:rPr dirty="0"/>
            </a:br>
            <a:r>
              <a:rPr dirty="0"/>
              <a:t>23   &lt;</a:t>
            </a:r>
            <a:r>
              <a:rPr dirty="0" err="1"/>
              <a:t>KPICard</a:t>
            </a:r>
            <a:r>
              <a:rPr dirty="0"/>
              <a:t> /&gt;</a:t>
            </a:r>
            <a:br>
              <a:rPr dirty="0"/>
            </a:br>
            <a:r>
              <a:rPr dirty="0"/>
              <a:t>24 &lt;/div&gt;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CSS Grid enables automatic card arrangement across different screen sizes.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grid-cols-1 → single column on mobile; md:grid-cols-3 → three columns on medium screens.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gap-6 provides consistent spacing between cards.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Grid is ideal for KPI dashboards where components repeat evenly.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E1C56-A4F5-0F66-9C21-7AB45C513F79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Responsive Design – Tailwind Breakpoints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• </a:t>
            </a:r>
            <a:r>
              <a:rPr dirty="0" err="1"/>
              <a:t>sm</a:t>
            </a:r>
            <a:r>
              <a:rPr dirty="0"/>
              <a:t>: ≥640px</a:t>
            </a:r>
            <a:br>
              <a:rPr dirty="0"/>
            </a:br>
            <a:r>
              <a:rPr dirty="0"/>
              <a:t>• md: ≥768px</a:t>
            </a:r>
            <a:br>
              <a:rPr dirty="0"/>
            </a:br>
            <a:r>
              <a:rPr dirty="0"/>
              <a:t>• lg: ≥1024px</a:t>
            </a:r>
            <a:br>
              <a:rPr dirty="0"/>
            </a:br>
            <a:r>
              <a:rPr dirty="0"/>
              <a:t>• xl: ≥1280px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457200" lvl="1" indent="0">
              <a:buNone/>
              <a:defRPr sz="1800">
                <a:solidFill>
                  <a:srgbClr val="1E1E1E"/>
                </a:solidFill>
              </a:defRPr>
            </a:pPr>
            <a:r>
              <a:rPr dirty="0"/>
              <a:t>Tailwind uses mobile-first responsiveness based on breakpoint prefixes.</a:t>
            </a:r>
          </a:p>
          <a:p>
            <a:pPr marL="457200" lvl="1" indent="0">
              <a:buNone/>
              <a:defRPr sz="1800">
                <a:solidFill>
                  <a:srgbClr val="1E1E1E"/>
                </a:solidFill>
              </a:defRPr>
            </a:pPr>
            <a:r>
              <a:rPr dirty="0"/>
              <a:t>Classes like </a:t>
            </a:r>
            <a:r>
              <a:rPr dirty="0" err="1"/>
              <a:t>md:flex</a:t>
            </a:r>
            <a:r>
              <a:rPr dirty="0"/>
              <a:t>, lg:grid-cols-4, xl:p-10 modify layout at different widths.</a:t>
            </a:r>
          </a:p>
          <a:p>
            <a:pPr marL="457200" lvl="1" indent="0">
              <a:buNone/>
              <a:defRPr sz="1800">
                <a:solidFill>
                  <a:srgbClr val="1E1E1E"/>
                </a:solidFill>
              </a:defRPr>
            </a:pPr>
            <a:r>
              <a:rPr dirty="0"/>
              <a:t>The result is an adaptive UI without writing raw @media queries.</a:t>
            </a:r>
          </a:p>
          <a:p>
            <a:pPr marL="457200" lvl="1" indent="0">
              <a:buNone/>
              <a:defRPr sz="1800">
                <a:solidFill>
                  <a:srgbClr val="1E1E1E"/>
                </a:solidFill>
              </a:defRPr>
            </a:pPr>
            <a:r>
              <a:rPr dirty="0"/>
              <a:t>Dashboard charts, KPIs, and tables use these extensively.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20A203-049B-1135-EBAD-FD36CBA2BBD8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Positioning Utilities – Mobile Menu (Navbar.tsx)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120 &lt;div </a:t>
            </a:r>
            <a:r>
              <a:rPr dirty="0" err="1"/>
              <a:t>className</a:t>
            </a:r>
            <a:r>
              <a:rPr dirty="0"/>
              <a:t>="absolute top-16 right-4 </a:t>
            </a:r>
            <a:r>
              <a:rPr dirty="0" err="1"/>
              <a:t>bg</a:t>
            </a:r>
            <a:r>
              <a:rPr dirty="0"/>
              <a:t>-white shadow-lg rounded-lg p-4"&gt;</a:t>
            </a:r>
            <a:br>
              <a:rPr dirty="0"/>
            </a:br>
            <a:r>
              <a:rPr dirty="0"/>
              <a:t>121   {/* mobile menu */}</a:t>
            </a:r>
            <a:br>
              <a:rPr dirty="0"/>
            </a:br>
            <a:r>
              <a:rPr dirty="0"/>
              <a:t>122 &lt;/div&gt;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absolute positions the menu relative to the nearest positioned ancestor.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top-16 and right-4 place it appropriately beneath the navbar.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Combined with z-index utilities, this ensures the menu floats above page content.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Essential for UX on mobile navigation.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2A370F-F3DB-E82B-8C2E-5F15E3F0ABAA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Transitions &amp; Animations – KPICard Hover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30 &lt;div </a:t>
            </a:r>
            <a:r>
              <a:rPr dirty="0" err="1"/>
              <a:t>className</a:t>
            </a:r>
            <a:r>
              <a:rPr dirty="0"/>
              <a:t>="shadow-soft </a:t>
            </a:r>
            <a:r>
              <a:rPr dirty="0" err="1"/>
              <a:t>hover:shadow-lg</a:t>
            </a:r>
            <a:r>
              <a:rPr dirty="0"/>
              <a:t> transition-all duration-200 hover:scale-105"&gt;</a:t>
            </a:r>
            <a:br>
              <a:rPr dirty="0"/>
            </a:br>
            <a:r>
              <a:rPr dirty="0"/>
              <a:t>31   {/* card */}</a:t>
            </a:r>
            <a:br>
              <a:rPr dirty="0"/>
            </a:br>
            <a:r>
              <a:rPr dirty="0"/>
              <a:t>32 &lt;/div&gt;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transition-all + duration-200 smoothens hover interactions.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scale-105 creates a slight zoom effect that draws attention.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shadow-soft reduces visual intensity while </a:t>
            </a:r>
            <a:r>
              <a:rPr dirty="0" err="1"/>
              <a:t>hover:shadow-lg</a:t>
            </a:r>
            <a:r>
              <a:rPr dirty="0"/>
              <a:t> improves emphasis.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Micro-interactions increase perceived quality and polish.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58798-806F-1FE0-5A98-55BEDE60BF1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Tailwind Animations – Keyframes (tailwind.config.js)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55 keyframes: {</a:t>
            </a:r>
            <a:br>
              <a:rPr dirty="0"/>
            </a:br>
            <a:r>
              <a:rPr dirty="0"/>
              <a:t>56   </a:t>
            </a:r>
            <a:r>
              <a:rPr dirty="0" err="1"/>
              <a:t>fadeIn</a:t>
            </a:r>
            <a:r>
              <a:rPr dirty="0"/>
              <a:t>: {</a:t>
            </a:r>
            <a:br>
              <a:rPr dirty="0"/>
            </a:br>
            <a:r>
              <a:rPr dirty="0"/>
              <a:t>57     '0%': { opacity: '0' },</a:t>
            </a:r>
            <a:br>
              <a:rPr dirty="0"/>
            </a:br>
            <a:r>
              <a:rPr dirty="0"/>
              <a:t>58     '100%': { opacity: '1' },</a:t>
            </a:r>
            <a:br>
              <a:rPr dirty="0"/>
            </a:br>
            <a:r>
              <a:rPr dirty="0"/>
              <a:t>59   }</a:t>
            </a:r>
            <a:br>
              <a:rPr dirty="0"/>
            </a:br>
            <a:r>
              <a:rPr dirty="0"/>
              <a:t>60 },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Custom keyframes animate component entry transitions.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fadeIn</a:t>
            </a:r>
            <a:r>
              <a:rPr dirty="0"/>
              <a:t> is used for modals, alerts, cards, and loaders.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These animations improve visual clarity by guiding user attention.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Tailwind allows defining project-wide animation presets.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C7519-DA3B-70F8-9ABF-95BCBFC839F2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Dark Mode Implementation – App.tsx + Tailwind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22 if (theme === "dark") </a:t>
            </a:r>
            <a:r>
              <a:rPr dirty="0" err="1"/>
              <a:t>document.documentElement.classList.add</a:t>
            </a:r>
            <a:r>
              <a:rPr dirty="0"/>
              <a:t>("dark");</a:t>
            </a:r>
            <a:br>
              <a:rPr dirty="0"/>
            </a:br>
            <a:r>
              <a:rPr dirty="0"/>
              <a:t>23 else </a:t>
            </a:r>
            <a:r>
              <a:rPr dirty="0" err="1"/>
              <a:t>document.documentElement.classList.remove</a:t>
            </a:r>
            <a:r>
              <a:rPr dirty="0"/>
              <a:t>("dark");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Dark mode is toggled at the root HTML tag so all Tailwind dark: classes activate.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dark:bg-neutral-800, </a:t>
            </a:r>
            <a:r>
              <a:rPr dirty="0" err="1"/>
              <a:t>dark:text-white</a:t>
            </a:r>
            <a:r>
              <a:rPr dirty="0"/>
              <a:t> ensure proper contrast.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design system supports complete dual-theme UI.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improves accessibility and user comfort.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3B8313-545E-58DF-9187-63F06D84C92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ES6 Variables – let &amp; const (helpers.ts Lines 1–6)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const PI = 3.14159;</a:t>
            </a:r>
            <a:br>
              <a:rPr dirty="0"/>
            </a:br>
            <a:r>
              <a:rPr dirty="0"/>
              <a:t>2 let counter = 0;</a:t>
            </a:r>
            <a:br>
              <a:rPr dirty="0"/>
            </a:br>
            <a:r>
              <a:rPr dirty="0"/>
              <a:t>3 counter++;</a:t>
            </a:r>
            <a:br>
              <a:rPr dirty="0"/>
            </a:br>
            <a:r>
              <a:rPr dirty="0"/>
              <a:t>4 console.log(PI);</a:t>
            </a:r>
            <a:br>
              <a:rPr dirty="0"/>
            </a:br>
            <a:r>
              <a:rPr dirty="0"/>
              <a:t>5 console.log(counter);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const declares values that must not be reassigned.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let allows block‑scoped variables used for mutable values.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Older var keyword is avoided to prevent hoisting issues.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Carbon Tracker uses const heavily for safe configuration and immutable 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AD1B7-BAB5-9FF1-35C5-2B64AE97E110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Arrow Functions – formatNumber() (helpers.ts Lines 6–14)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6 export const </a:t>
            </a:r>
            <a:r>
              <a:rPr dirty="0" err="1"/>
              <a:t>formatNumber</a:t>
            </a:r>
            <a:r>
              <a:rPr dirty="0"/>
              <a:t> = (</a:t>
            </a:r>
            <a:br>
              <a:rPr dirty="0"/>
            </a:br>
            <a:r>
              <a:rPr dirty="0"/>
              <a:t>7   value: number,</a:t>
            </a:r>
            <a:br>
              <a:rPr dirty="0"/>
            </a:br>
            <a:r>
              <a:rPr dirty="0"/>
              <a:t>8   decimals: number = 2,</a:t>
            </a:r>
            <a:br>
              <a:rPr dirty="0"/>
            </a:br>
            <a:r>
              <a:rPr dirty="0"/>
              <a:t>9   suffix: string = ""</a:t>
            </a:r>
            <a:br>
              <a:rPr dirty="0"/>
            </a:br>
            <a:r>
              <a:rPr dirty="0"/>
              <a:t>10 ): string =&gt; {</a:t>
            </a:r>
            <a:br>
              <a:rPr dirty="0"/>
            </a:br>
            <a:r>
              <a:rPr dirty="0"/>
              <a:t>11   return </a:t>
            </a:r>
            <a:r>
              <a:rPr dirty="0" err="1"/>
              <a:t>value.toFixed</a:t>
            </a:r>
            <a:r>
              <a:rPr dirty="0"/>
              <a:t>(decimals) + suffix;</a:t>
            </a:r>
            <a:br>
              <a:rPr dirty="0"/>
            </a:br>
            <a:r>
              <a:rPr dirty="0"/>
              <a:t>12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Arrow functions provide cleaner syntax than traditional function(){}.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throughout utility functions for formatting, grouping, sorting.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Implicit &amp; explicit return both supported; this function uses explicit return.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enforce consistent formatting in dashboards and KPIs.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CD1969-6530-42DA-9002-3A679A75A859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Template Literals – Dynamic Strings (helpers.ts Lines 52–54)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52 const label = `${</a:t>
            </a:r>
            <a:r>
              <a:rPr dirty="0" err="1"/>
              <a:t>monthName</a:t>
            </a:r>
            <a:r>
              <a:rPr dirty="0"/>
              <a:t>} – ${year}`;</a:t>
            </a:r>
            <a:br>
              <a:rPr dirty="0"/>
            </a:br>
            <a:r>
              <a:rPr dirty="0"/>
              <a:t>53 const summary = `Total: ${total} kg </a:t>
            </a:r>
            <a:r>
              <a:rPr dirty="0" err="1"/>
              <a:t>CO₂e</a:t>
            </a:r>
            <a:r>
              <a:rPr dirty="0"/>
              <a:t>`;</a:t>
            </a:r>
            <a:br>
              <a:rPr dirty="0"/>
            </a:br>
            <a:r>
              <a:rPr dirty="0"/>
              <a:t>54 return summary;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Template literals (backticks) simplify building strings with variables.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No need for + concatenation.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in UI labels, logs, chart axis names, emissions summaries.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Improves readability and reduces string formatting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0966D-17B3-CEAB-716E-BA80E75E532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Object Destructuring – FormInput Props (FormInput.tsx Lines 19–25)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19 export const </a:t>
            </a:r>
            <a:r>
              <a:rPr dirty="0" err="1"/>
              <a:t>FormInput</a:t>
            </a:r>
            <a:r>
              <a:rPr dirty="0"/>
              <a:t> = ({</a:t>
            </a:r>
            <a:br>
              <a:rPr dirty="0"/>
            </a:br>
            <a:r>
              <a:rPr dirty="0"/>
              <a:t>20   label,</a:t>
            </a:r>
            <a:br>
              <a:rPr dirty="0"/>
            </a:br>
            <a:r>
              <a:rPr dirty="0"/>
              <a:t>21   type = "text",</a:t>
            </a:r>
            <a:br>
              <a:rPr dirty="0"/>
            </a:br>
            <a:r>
              <a:rPr dirty="0"/>
              <a:t>22   value,</a:t>
            </a:r>
            <a:br>
              <a:rPr dirty="0"/>
            </a:br>
            <a:r>
              <a:rPr dirty="0"/>
              <a:t>23   </a:t>
            </a:r>
            <a:r>
              <a:rPr dirty="0" err="1"/>
              <a:t>onChange</a:t>
            </a:r>
            <a:r>
              <a:rPr dirty="0"/>
              <a:t>,</a:t>
            </a:r>
            <a:br>
              <a:rPr dirty="0"/>
            </a:br>
            <a:r>
              <a:rPr dirty="0"/>
              <a:t>24   placeholder</a:t>
            </a:r>
            <a:br>
              <a:rPr dirty="0"/>
            </a:br>
            <a:r>
              <a:rPr dirty="0"/>
              <a:t>25 }: </a:t>
            </a:r>
            <a:r>
              <a:rPr dirty="0" err="1"/>
              <a:t>FormInputProps</a:t>
            </a:r>
            <a:r>
              <a:rPr dirty="0"/>
              <a:t>) =&gt; {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Destructuring</a:t>
            </a:r>
            <a:r>
              <a:rPr dirty="0"/>
              <a:t> extracts object properties directly into variables.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Default values (type = "text") reduce boilerplate.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across the app in props, responses, hooks and </a:t>
            </a:r>
            <a:r>
              <a:rPr dirty="0" err="1"/>
              <a:t>Firestore</a:t>
            </a:r>
            <a:r>
              <a:rPr dirty="0"/>
              <a:t> data.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keep components compact and readable.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479CC-8EDA-1FB4-1CBD-8C833047EF5F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Spread Operator – Updating State (appStore.ts Lines 84–86)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84 set((state) =&gt; ({</a:t>
            </a:r>
            <a:br>
              <a:rPr dirty="0"/>
            </a:br>
            <a:r>
              <a:rPr dirty="0"/>
              <a:t>85   records: [</a:t>
            </a:r>
            <a:r>
              <a:rPr dirty="0" err="1"/>
              <a:t>newRecord</a:t>
            </a:r>
            <a:r>
              <a:rPr dirty="0"/>
              <a:t>, ...</a:t>
            </a:r>
            <a:r>
              <a:rPr dirty="0" err="1"/>
              <a:t>state.records</a:t>
            </a:r>
            <a:r>
              <a:rPr dirty="0"/>
              <a:t>],</a:t>
            </a:r>
            <a:br>
              <a:rPr dirty="0"/>
            </a:br>
            <a:r>
              <a:rPr dirty="0"/>
              <a:t>86 }));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Spread (...) copies array or object contents into new arrays/objects.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Essential for immutable state updates in React &amp; </a:t>
            </a:r>
            <a:r>
              <a:rPr dirty="0" err="1"/>
              <a:t>Zustand</a:t>
            </a:r>
            <a:r>
              <a:rPr dirty="0"/>
              <a:t>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Avoids mutating original state, preventing bugs and re-render issues.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Commonly used when adding new emission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A3D9C-7824-D972-9393-32975A92FAC5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Array.map() – Transforming Data (emissions.ts Lines 67–69)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67 const </a:t>
            </a:r>
            <a:r>
              <a:rPr dirty="0" err="1"/>
              <a:t>monthlyData</a:t>
            </a:r>
            <a:r>
              <a:rPr dirty="0"/>
              <a:t> = </a:t>
            </a:r>
            <a:r>
              <a:rPr dirty="0" err="1"/>
              <a:t>Object.entries</a:t>
            </a:r>
            <a:r>
              <a:rPr dirty="0"/>
              <a:t>(data)</a:t>
            </a:r>
            <a:br>
              <a:rPr dirty="0"/>
            </a:br>
            <a:r>
              <a:rPr dirty="0"/>
              <a:t>68   .map(([</a:t>
            </a:r>
            <a:r>
              <a:rPr dirty="0" err="1"/>
              <a:t>monthKey</a:t>
            </a:r>
            <a:r>
              <a:rPr dirty="0"/>
              <a:t>, data]) =&gt; ({ month: </a:t>
            </a:r>
            <a:r>
              <a:rPr dirty="0" err="1"/>
              <a:t>monthKey</a:t>
            </a:r>
            <a:r>
              <a:rPr dirty="0"/>
              <a:t>, ...data }));</a:t>
            </a:r>
            <a:br>
              <a:rPr dirty="0"/>
            </a:br>
            <a:r>
              <a:rPr dirty="0"/>
              <a:t>69 export default </a:t>
            </a:r>
            <a:r>
              <a:rPr dirty="0" err="1"/>
              <a:t>monthlyData</a:t>
            </a:r>
            <a:r>
              <a:rPr dirty="0"/>
              <a:t>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map() transforms each element into a new value.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to format chart data for Recharts.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Creates consistent objects with month labels and totals.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Functional programming makes data pipelines clean and predictable.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46C4E-2D27-2B86-C7CC-1A7E380DB86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Array.filter() – Date Filtering (emissions.ts Lines 203–208)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203 const </a:t>
            </a:r>
            <a:r>
              <a:rPr dirty="0" err="1"/>
              <a:t>filteredRecords</a:t>
            </a:r>
            <a:r>
              <a:rPr dirty="0"/>
              <a:t> = </a:t>
            </a:r>
            <a:r>
              <a:rPr dirty="0" err="1"/>
              <a:t>records.filter</a:t>
            </a:r>
            <a:r>
              <a:rPr dirty="0"/>
              <a:t>((record) =&gt; {</a:t>
            </a:r>
            <a:br>
              <a:rPr dirty="0"/>
            </a:br>
            <a:r>
              <a:rPr dirty="0"/>
              <a:t>204   const </a:t>
            </a:r>
            <a:r>
              <a:rPr dirty="0" err="1"/>
              <a:t>recordDate</a:t>
            </a:r>
            <a:r>
              <a:rPr dirty="0"/>
              <a:t> = new Date(`${</a:t>
            </a:r>
            <a:r>
              <a:rPr dirty="0" err="1"/>
              <a:t>record.year</a:t>
            </a:r>
            <a:r>
              <a:rPr dirty="0"/>
              <a:t>}-${</a:t>
            </a:r>
            <a:r>
              <a:rPr dirty="0" err="1"/>
              <a:t>record.month</a:t>
            </a:r>
            <a:r>
              <a:rPr dirty="0"/>
              <a:t>}-01`);</a:t>
            </a:r>
            <a:br>
              <a:rPr dirty="0"/>
            </a:br>
            <a:r>
              <a:rPr dirty="0"/>
              <a:t>205   return </a:t>
            </a:r>
            <a:r>
              <a:rPr dirty="0" err="1"/>
              <a:t>recordDate</a:t>
            </a:r>
            <a:r>
              <a:rPr dirty="0"/>
              <a:t> &gt;= </a:t>
            </a:r>
            <a:r>
              <a:rPr dirty="0" err="1"/>
              <a:t>startDate</a:t>
            </a:r>
            <a:r>
              <a:rPr dirty="0"/>
              <a:t> &amp;&amp; </a:t>
            </a:r>
            <a:r>
              <a:rPr dirty="0" err="1"/>
              <a:t>recordDate</a:t>
            </a:r>
            <a:r>
              <a:rPr dirty="0"/>
              <a:t> &lt;= </a:t>
            </a:r>
            <a:r>
              <a:rPr dirty="0" err="1"/>
              <a:t>endDate</a:t>
            </a:r>
            <a:r>
              <a:rPr dirty="0"/>
              <a:t>;</a:t>
            </a:r>
            <a:br>
              <a:rPr dirty="0"/>
            </a:br>
            <a:r>
              <a:rPr dirty="0"/>
              <a:t>206 });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filter() keeps only items matching a condition.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for selecting emissions within a given date range.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Drives charts, monthly KPIs, and report exports.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Clean alternative to writing manual loops.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2B76FD-70DB-D99C-458C-76751563FE2B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Array.reduce() – Sum CO₂ Emissions (emissions.ts Lines 5–6)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 export const </a:t>
            </a:r>
            <a:r>
              <a:rPr dirty="0" err="1"/>
              <a:t>calculateTotalEmissions</a:t>
            </a:r>
            <a:r>
              <a:rPr dirty="0"/>
              <a:t> = (records) =&gt; {</a:t>
            </a:r>
            <a:br>
              <a:rPr dirty="0"/>
            </a:br>
            <a:r>
              <a:rPr dirty="0"/>
              <a:t>6   return </a:t>
            </a:r>
            <a:r>
              <a:rPr dirty="0" err="1"/>
              <a:t>records.reduce</a:t>
            </a:r>
            <a:r>
              <a:rPr dirty="0"/>
              <a:t>((sum, r) =&gt; sum + (r.co2e || 0), 0);</a:t>
            </a:r>
            <a:br>
              <a:rPr dirty="0"/>
            </a:br>
            <a:r>
              <a:rPr dirty="0"/>
              <a:t>7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reduce() combines all items into a single output value.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Perfect for summing emissions, totals, and category breakdowns.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Avoids manual iteration and mutable counters.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is the mathematical foundation for dashboards.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CCF99-3951-D9FE-FD3E-29F54FA1741D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Promises – Firestore Data Fetching (firestoreService.ts Lines 53–58)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53 const q = query(</a:t>
            </a:r>
            <a:r>
              <a:rPr dirty="0" err="1"/>
              <a:t>recordsRef</a:t>
            </a:r>
            <a:r>
              <a:rPr dirty="0"/>
              <a:t>, </a:t>
            </a:r>
            <a:r>
              <a:rPr dirty="0" err="1"/>
              <a:t>orderBy</a:t>
            </a:r>
            <a:r>
              <a:rPr dirty="0"/>
              <a:t>('timestamp', 'desc'));</a:t>
            </a:r>
            <a:br>
              <a:rPr dirty="0"/>
            </a:br>
            <a:r>
              <a:rPr dirty="0"/>
              <a:t>54 const </a:t>
            </a:r>
            <a:r>
              <a:rPr dirty="0" err="1"/>
              <a:t>snapshotPromise</a:t>
            </a:r>
            <a:r>
              <a:rPr dirty="0"/>
              <a:t> = </a:t>
            </a:r>
            <a:r>
              <a:rPr dirty="0" err="1"/>
              <a:t>getDocs</a:t>
            </a:r>
            <a:r>
              <a:rPr dirty="0"/>
              <a:t>(q);</a:t>
            </a:r>
            <a:br>
              <a:rPr dirty="0"/>
            </a:br>
            <a:r>
              <a:rPr dirty="0"/>
              <a:t>55 const snapshot = await </a:t>
            </a:r>
            <a:r>
              <a:rPr dirty="0" err="1"/>
              <a:t>snapshotPromise</a:t>
            </a:r>
            <a:r>
              <a:rPr dirty="0"/>
              <a:t>;</a:t>
            </a:r>
            <a:br>
              <a:rPr dirty="0"/>
            </a:br>
            <a:r>
              <a:rPr dirty="0"/>
              <a:t>56 return </a:t>
            </a:r>
            <a:r>
              <a:rPr dirty="0" err="1"/>
              <a:t>snapshot.docs.map</a:t>
            </a:r>
            <a:r>
              <a:rPr dirty="0"/>
              <a:t>(d =&gt; ({ id: d.id, ...</a:t>
            </a:r>
            <a:r>
              <a:rPr dirty="0" err="1"/>
              <a:t>d.data</a:t>
            </a:r>
            <a:r>
              <a:rPr dirty="0"/>
              <a:t>() }));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 Promise represents an asynchronous operation.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getDocs</a:t>
            </a:r>
            <a:r>
              <a:rPr dirty="0"/>
              <a:t> returns a Promise that resolves to </a:t>
            </a:r>
            <a:r>
              <a:rPr dirty="0" err="1"/>
              <a:t>Firestore</a:t>
            </a:r>
            <a:r>
              <a:rPr dirty="0"/>
              <a:t> results.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await pauses execution until the Promise resolves.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Makes async database operations readable and consistent.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BE0AD-F3AD-01C0-3636-42C2F7370604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Async/Await – User Signup (authService.ts Lines 23–39)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23 export const </a:t>
            </a:r>
            <a:r>
              <a:rPr dirty="0" err="1"/>
              <a:t>signUp</a:t>
            </a:r>
            <a:r>
              <a:rPr dirty="0"/>
              <a:t> = async (email, password) =&gt; {</a:t>
            </a:r>
            <a:br>
              <a:rPr dirty="0"/>
            </a:br>
            <a:r>
              <a:rPr dirty="0"/>
              <a:t>24  try {</a:t>
            </a:r>
            <a:br>
              <a:rPr dirty="0"/>
            </a:br>
            <a:r>
              <a:rPr dirty="0"/>
              <a:t>25    const </a:t>
            </a:r>
            <a:r>
              <a:rPr dirty="0" err="1"/>
              <a:t>userCredential</a:t>
            </a:r>
            <a:r>
              <a:rPr dirty="0"/>
              <a:t> = await </a:t>
            </a:r>
            <a:r>
              <a:rPr dirty="0" err="1"/>
              <a:t>createUserWithEmailAndPassword</a:t>
            </a:r>
            <a:r>
              <a:rPr dirty="0"/>
              <a:t>(auth, email, password);</a:t>
            </a:r>
            <a:br>
              <a:rPr dirty="0"/>
            </a:br>
            <a:r>
              <a:rPr dirty="0"/>
              <a:t>26    await </a:t>
            </a:r>
            <a:r>
              <a:rPr dirty="0" err="1"/>
              <a:t>updateProfile</a:t>
            </a:r>
            <a:r>
              <a:rPr dirty="0"/>
              <a:t>(</a:t>
            </a:r>
            <a:r>
              <a:rPr dirty="0" err="1"/>
              <a:t>userCredential.user</a:t>
            </a:r>
            <a:r>
              <a:rPr dirty="0"/>
              <a:t>, { </a:t>
            </a:r>
            <a:r>
              <a:rPr dirty="0" err="1"/>
              <a:t>displayName</a:t>
            </a:r>
            <a:r>
              <a:rPr dirty="0"/>
              <a:t> });</a:t>
            </a:r>
            <a:br>
              <a:rPr dirty="0"/>
            </a:br>
            <a:r>
              <a:rPr dirty="0"/>
              <a:t>27    return </a:t>
            </a:r>
            <a:r>
              <a:rPr dirty="0" err="1"/>
              <a:t>userCredential.user</a:t>
            </a:r>
            <a:r>
              <a:rPr dirty="0"/>
              <a:t>;</a:t>
            </a:r>
            <a:br>
              <a:rPr dirty="0"/>
            </a:br>
            <a:r>
              <a:rPr dirty="0"/>
              <a:t>28  } catch (e) {</a:t>
            </a:r>
            <a:br>
              <a:rPr dirty="0"/>
            </a:br>
            <a:r>
              <a:rPr dirty="0"/>
              <a:t>29    throw new Error(</a:t>
            </a:r>
            <a:r>
              <a:rPr dirty="0" err="1"/>
              <a:t>e.message</a:t>
            </a:r>
            <a:r>
              <a:rPr dirty="0"/>
              <a:t>);</a:t>
            </a:r>
            <a:br>
              <a:rPr dirty="0"/>
            </a:br>
            <a:r>
              <a:rPr dirty="0"/>
              <a:t>30  }</a:t>
            </a:r>
            <a:br>
              <a:rPr dirty="0"/>
            </a:br>
            <a:r>
              <a:rPr dirty="0"/>
              <a:t>31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async/await is a modern alternative to .then() promise chains.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Makes asynchronous </a:t>
            </a:r>
            <a:r>
              <a:rPr dirty="0" err="1"/>
              <a:t>Firestore</a:t>
            </a:r>
            <a:r>
              <a:rPr dirty="0"/>
              <a:t> + Auth operations look synchronous.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Error handling is simple via try/catch.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Widely used in login, signup, and record creation 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3133F-584A-B9D4-DDA8-2131AEDDB2DB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DOM Manipulation in React – Virtual DOM (App.tsx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22 </a:t>
            </a:r>
            <a:r>
              <a:rPr dirty="0" err="1"/>
              <a:t>React.useEffect</a:t>
            </a:r>
            <a:r>
              <a:rPr dirty="0"/>
              <a:t>(() =&gt; {</a:t>
            </a:r>
            <a:br>
              <a:rPr dirty="0"/>
            </a:br>
            <a:r>
              <a:rPr dirty="0"/>
              <a:t>23   if (theme === "dark")</a:t>
            </a:r>
            <a:br>
              <a:rPr dirty="0"/>
            </a:br>
            <a:r>
              <a:rPr dirty="0"/>
              <a:t>24     </a:t>
            </a:r>
            <a:r>
              <a:rPr dirty="0" err="1"/>
              <a:t>document.documentElement.classList.add</a:t>
            </a:r>
            <a:r>
              <a:rPr dirty="0"/>
              <a:t>("dark");</a:t>
            </a:r>
            <a:br>
              <a:rPr dirty="0"/>
            </a:br>
            <a:r>
              <a:rPr dirty="0"/>
              <a:t>25   else</a:t>
            </a:r>
            <a:br>
              <a:rPr dirty="0"/>
            </a:br>
            <a:r>
              <a:rPr dirty="0"/>
              <a:t>26     </a:t>
            </a:r>
            <a:r>
              <a:rPr dirty="0" err="1"/>
              <a:t>document.documentElement.classList.remove</a:t>
            </a:r>
            <a:r>
              <a:rPr dirty="0"/>
              <a:t>("dark");</a:t>
            </a:r>
            <a:br>
              <a:rPr dirty="0"/>
            </a:br>
            <a:r>
              <a:rPr dirty="0"/>
              <a:t>27 }, [theme]);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abstracts direct DOM manipulation using the Virtual DOM.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</a:t>
            </a:r>
            <a:r>
              <a:rPr dirty="0" err="1"/>
              <a:t>useEffect</a:t>
            </a:r>
            <a:r>
              <a:rPr dirty="0"/>
              <a:t> actually touches the real DOM to toggle dark mode.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document.documentElement</a:t>
            </a:r>
            <a:r>
              <a:rPr dirty="0"/>
              <a:t> directly modifies &lt;html&gt; tag classes.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sparingly; most DOM changes are handled by </a:t>
            </a:r>
            <a:r>
              <a:rPr dirty="0" err="1"/>
              <a:t>React’s</a:t>
            </a:r>
            <a:r>
              <a:rPr dirty="0"/>
              <a:t> renderer.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A9D56-C180-607D-09A3-571D76724D5B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Event Handling – Form Submission (Login.tsx Lines 25–35)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25 const </a:t>
            </a:r>
            <a:r>
              <a:rPr dirty="0" err="1"/>
              <a:t>handleSubmit</a:t>
            </a:r>
            <a:r>
              <a:rPr dirty="0"/>
              <a:t> = async (e) =&gt; {</a:t>
            </a:r>
            <a:br>
              <a:rPr dirty="0"/>
            </a:br>
            <a:r>
              <a:rPr dirty="0"/>
              <a:t>26   </a:t>
            </a:r>
            <a:r>
              <a:rPr dirty="0" err="1"/>
              <a:t>e.preventDefault</a:t>
            </a:r>
            <a:r>
              <a:rPr dirty="0"/>
              <a:t>();</a:t>
            </a:r>
            <a:br>
              <a:rPr dirty="0"/>
            </a:br>
            <a:r>
              <a:rPr dirty="0"/>
              <a:t>27   </a:t>
            </a:r>
            <a:r>
              <a:rPr dirty="0" err="1"/>
              <a:t>setError</a:t>
            </a:r>
            <a:r>
              <a:rPr dirty="0"/>
              <a:t>("");</a:t>
            </a:r>
            <a:br>
              <a:rPr dirty="0"/>
            </a:br>
            <a:r>
              <a:rPr dirty="0"/>
              <a:t>28   try {</a:t>
            </a:r>
            <a:br>
              <a:rPr dirty="0"/>
            </a:br>
            <a:r>
              <a:rPr dirty="0"/>
              <a:t>29     const user = await </a:t>
            </a:r>
            <a:r>
              <a:rPr dirty="0" err="1"/>
              <a:t>signIn</a:t>
            </a:r>
            <a:r>
              <a:rPr dirty="0"/>
              <a:t>(</a:t>
            </a:r>
            <a:r>
              <a:rPr dirty="0" err="1"/>
              <a:t>form.email</a:t>
            </a:r>
            <a:r>
              <a:rPr dirty="0"/>
              <a:t>, </a:t>
            </a:r>
            <a:r>
              <a:rPr dirty="0" err="1"/>
              <a:t>form.password</a:t>
            </a:r>
            <a:r>
              <a:rPr dirty="0"/>
              <a:t>);</a:t>
            </a:r>
            <a:br>
              <a:rPr dirty="0"/>
            </a:br>
            <a:r>
              <a:rPr dirty="0"/>
              <a:t>30     </a:t>
            </a:r>
            <a:r>
              <a:rPr dirty="0" err="1"/>
              <a:t>setUser</a:t>
            </a:r>
            <a:r>
              <a:rPr dirty="0"/>
              <a:t>(user);</a:t>
            </a:r>
            <a:br>
              <a:rPr dirty="0"/>
            </a:br>
            <a:r>
              <a:rPr dirty="0"/>
              <a:t>31   } catch (err) {</a:t>
            </a:r>
            <a:br>
              <a:rPr dirty="0"/>
            </a:br>
            <a:r>
              <a:rPr dirty="0"/>
              <a:t>32     </a:t>
            </a:r>
            <a:r>
              <a:rPr dirty="0" err="1"/>
              <a:t>setError</a:t>
            </a:r>
            <a:r>
              <a:rPr dirty="0"/>
              <a:t>(</a:t>
            </a:r>
            <a:r>
              <a:rPr dirty="0" err="1"/>
              <a:t>err.message</a:t>
            </a:r>
            <a:r>
              <a:rPr dirty="0"/>
              <a:t>);</a:t>
            </a:r>
            <a:br>
              <a:rPr dirty="0"/>
            </a:br>
            <a:r>
              <a:rPr dirty="0"/>
              <a:t>33   }</a:t>
            </a:r>
            <a:br>
              <a:rPr dirty="0"/>
            </a:br>
            <a:r>
              <a:rPr dirty="0"/>
              <a:t>34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replaces traditional DOM event listeners with synthetic events.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e.preventDefault</a:t>
            </a:r>
            <a:r>
              <a:rPr dirty="0"/>
              <a:t>() prevents normal HTML form submission.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handleSubmit</a:t>
            </a:r>
            <a:r>
              <a:rPr dirty="0"/>
              <a:t> centralizes authentication and error handling.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abstraction ensures cross-browser consistency.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48815-B873-CC04-DE14-6E7E13EC8A9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Event Handling – OnChange (Login.tsx Lines 36–42)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36 const </a:t>
            </a:r>
            <a:r>
              <a:rPr dirty="0" err="1"/>
              <a:t>handleChange</a:t>
            </a:r>
            <a:r>
              <a:rPr dirty="0"/>
              <a:t> = (e) =&gt; {</a:t>
            </a:r>
            <a:br>
              <a:rPr dirty="0"/>
            </a:br>
            <a:r>
              <a:rPr dirty="0"/>
              <a:t>37   </a:t>
            </a:r>
            <a:r>
              <a:rPr dirty="0" err="1"/>
              <a:t>setForm</a:t>
            </a:r>
            <a:r>
              <a:rPr dirty="0"/>
              <a:t>({</a:t>
            </a:r>
            <a:br>
              <a:rPr dirty="0"/>
            </a:br>
            <a:r>
              <a:rPr dirty="0"/>
              <a:t>38     ...form,</a:t>
            </a:r>
            <a:br>
              <a:rPr dirty="0"/>
            </a:br>
            <a:r>
              <a:rPr dirty="0"/>
              <a:t>39     [e.target.name]: </a:t>
            </a:r>
            <a:r>
              <a:rPr dirty="0" err="1"/>
              <a:t>e.target.value</a:t>
            </a:r>
            <a:r>
              <a:rPr dirty="0"/>
              <a:t>,</a:t>
            </a:r>
            <a:br>
              <a:rPr dirty="0"/>
            </a:br>
            <a:r>
              <a:rPr dirty="0"/>
              <a:t>40   });</a:t>
            </a:r>
            <a:br>
              <a:rPr dirty="0"/>
            </a:br>
            <a:r>
              <a:rPr dirty="0"/>
              <a:t>41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events provide </a:t>
            </a:r>
            <a:r>
              <a:rPr dirty="0" err="1"/>
              <a:t>e.target</a:t>
            </a:r>
            <a:r>
              <a:rPr dirty="0"/>
              <a:t> similar to native DOM events.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Controlled components sync UI state and DOM values.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Spread operator preserves previous state while updating only one field.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Eliminates manual DOM queries like </a:t>
            </a:r>
            <a:r>
              <a:rPr dirty="0" err="1"/>
              <a:t>document.getElementById</a:t>
            </a:r>
            <a:r>
              <a:rPr dirty="0"/>
              <a:t>().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26B0BD-A232-7052-D920-A9D3718361A7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localStorage – Persisting Theme (appStore.ts Lines 159–166)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159 persist(</a:t>
            </a:r>
            <a:br>
              <a:rPr dirty="0"/>
            </a:br>
            <a:r>
              <a:rPr dirty="0"/>
              <a:t>160   (set, get) =&gt; ({ theme: "light" }),</a:t>
            </a:r>
            <a:br>
              <a:rPr dirty="0"/>
            </a:br>
            <a:r>
              <a:rPr dirty="0"/>
              <a:t>161   {</a:t>
            </a:r>
            <a:br>
              <a:rPr dirty="0"/>
            </a:br>
            <a:r>
              <a:rPr dirty="0"/>
              <a:t>162     name: "carbon-tracker-store",</a:t>
            </a:r>
            <a:br>
              <a:rPr dirty="0"/>
            </a:br>
            <a:r>
              <a:rPr dirty="0"/>
              <a:t>163     partialize: (s) =&gt; ({ theme: </a:t>
            </a:r>
            <a:r>
              <a:rPr dirty="0" err="1"/>
              <a:t>s.theme</a:t>
            </a:r>
            <a:r>
              <a:rPr dirty="0"/>
              <a:t> }),</a:t>
            </a:r>
            <a:br>
              <a:rPr dirty="0"/>
            </a:br>
            <a:r>
              <a:rPr dirty="0"/>
              <a:t>164   }</a:t>
            </a:r>
            <a:br>
              <a:rPr dirty="0"/>
            </a:br>
            <a:r>
              <a:rPr dirty="0"/>
              <a:t>165 )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Zustand’s</a:t>
            </a:r>
            <a:r>
              <a:rPr dirty="0"/>
              <a:t> persist middleware stores selected state keys in </a:t>
            </a:r>
            <a:r>
              <a:rPr dirty="0" err="1"/>
              <a:t>localStorage</a:t>
            </a:r>
            <a:r>
              <a:rPr dirty="0"/>
              <a:t>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theme is saved so it persists across browser refreshes.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Avoids writing manual </a:t>
            </a:r>
            <a:r>
              <a:rPr dirty="0" err="1"/>
              <a:t>window.localStorage.setItem</a:t>
            </a:r>
            <a:r>
              <a:rPr dirty="0"/>
              <a:t>() calls.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Enhances UX by remembering user preferences.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04D0AA-DEF0-978E-C281-A3B92FC97576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TypeScript Interfaces – EmissionRecord (types/index.ts Lines 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export interface </a:t>
            </a:r>
            <a:r>
              <a:rPr dirty="0" err="1"/>
              <a:t>EmissionRecord</a:t>
            </a:r>
            <a:r>
              <a:rPr dirty="0"/>
              <a:t> {</a:t>
            </a:r>
            <a:br>
              <a:rPr dirty="0"/>
            </a:br>
            <a:r>
              <a:rPr dirty="0"/>
              <a:t>2   id: string;</a:t>
            </a:r>
            <a:br>
              <a:rPr dirty="0"/>
            </a:br>
            <a:r>
              <a:rPr dirty="0"/>
              <a:t>3   month: string;</a:t>
            </a:r>
            <a:br>
              <a:rPr dirty="0"/>
            </a:br>
            <a:r>
              <a:rPr dirty="0"/>
              <a:t>4   year: number;</a:t>
            </a:r>
            <a:br>
              <a:rPr dirty="0"/>
            </a:br>
            <a:r>
              <a:rPr dirty="0"/>
              <a:t>5   category: "electricity" | "fuel" | "water";</a:t>
            </a:r>
            <a:br>
              <a:rPr dirty="0"/>
            </a:br>
            <a:r>
              <a:rPr dirty="0"/>
              <a:t>6   value: number;</a:t>
            </a:r>
            <a:br>
              <a:rPr dirty="0"/>
            </a:br>
            <a:r>
              <a:rPr dirty="0"/>
              <a:t>7   unit: string;</a:t>
            </a:r>
            <a:br>
              <a:rPr dirty="0"/>
            </a:br>
            <a:r>
              <a:rPr dirty="0"/>
              <a:t>8   co2e?: number;</a:t>
            </a:r>
            <a:br>
              <a:rPr dirty="0"/>
            </a:br>
            <a:r>
              <a:rPr dirty="0"/>
              <a:t>9   timestamp: string;</a:t>
            </a:r>
            <a:br>
              <a:rPr dirty="0"/>
            </a:br>
            <a:r>
              <a:rPr dirty="0"/>
              <a:t>10  notes?: string;</a:t>
            </a:r>
            <a:br>
              <a:rPr dirty="0"/>
            </a:br>
            <a:r>
              <a:rPr dirty="0"/>
              <a:t>11 }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Interfaces define the structure of objects used across the project.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Optional fields (co2e?, notes?) allow flexibility.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Category uses union types for strict safety.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Ensures all components receive consistent emission data.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2D5C8-EF78-24A3-E896-9E378D2F02A0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Type Annotations – Helper Function (helpers.ts Lines 1–6)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export const round = (value: number, decimals: number = 2): number =&gt; {</a:t>
            </a:r>
            <a:br>
              <a:rPr dirty="0"/>
            </a:br>
            <a:r>
              <a:rPr dirty="0"/>
              <a:t>2   return Number(</a:t>
            </a:r>
            <a:r>
              <a:rPr dirty="0" err="1"/>
              <a:t>value.toFixed</a:t>
            </a:r>
            <a:r>
              <a:rPr dirty="0"/>
              <a:t>(decimals));</a:t>
            </a:r>
            <a:br>
              <a:rPr dirty="0"/>
            </a:br>
            <a:r>
              <a:rPr dirty="0"/>
              <a:t>3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value: number enforces numeric input.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return type : number ensures consistent output.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Prevents common JS runtime errors from type mismatches.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TypeScript improves reliability in all math utilities.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3865A7-072E-8C8E-D533-ABAD1E1CD3E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Union Types – Severity Levels (types/index.ts Lines 33–37)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33 export type Severity =</a:t>
            </a:r>
            <a:br>
              <a:rPr dirty="0"/>
            </a:br>
            <a:r>
              <a:rPr dirty="0"/>
              <a:t>34   | "low"</a:t>
            </a:r>
            <a:br>
              <a:rPr dirty="0"/>
            </a:br>
            <a:r>
              <a:rPr dirty="0"/>
              <a:t>35   | "medium"</a:t>
            </a:r>
            <a:br>
              <a:rPr dirty="0"/>
            </a:br>
            <a:r>
              <a:rPr dirty="0"/>
              <a:t>36   | "high";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Union types restrict variables to specific allowed values.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Prevents accidental invalid strings reaching logic.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widely across UI state, filtering, and categorization.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Ensures compile-time errors for unsupported input.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F3570B-1EF4-4663-4DA4-C6C32BD42F23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Generics – groupBy&lt;T&gt; (helpers.ts Lines 140–149)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140 export const </a:t>
            </a:r>
            <a:r>
              <a:rPr dirty="0" err="1"/>
              <a:t>groupBy</a:t>
            </a:r>
            <a:r>
              <a:rPr dirty="0"/>
              <a:t> = &lt;T,&gt;(array: T[], key: </a:t>
            </a:r>
            <a:r>
              <a:rPr dirty="0" err="1"/>
              <a:t>keyof</a:t>
            </a:r>
            <a:r>
              <a:rPr dirty="0"/>
              <a:t> T) =&gt; {</a:t>
            </a:r>
            <a:br>
              <a:rPr dirty="0"/>
            </a:br>
            <a:r>
              <a:rPr dirty="0"/>
              <a:t>141   return </a:t>
            </a:r>
            <a:r>
              <a:rPr dirty="0" err="1"/>
              <a:t>array.reduce</a:t>
            </a:r>
            <a:r>
              <a:rPr dirty="0"/>
              <a:t>((res, item) =&gt; {</a:t>
            </a:r>
            <a:br>
              <a:rPr dirty="0"/>
            </a:br>
            <a:r>
              <a:rPr dirty="0"/>
              <a:t>142     const </a:t>
            </a:r>
            <a:r>
              <a:rPr dirty="0" err="1"/>
              <a:t>groupKey</a:t>
            </a:r>
            <a:r>
              <a:rPr dirty="0"/>
              <a:t> = String(item[key]);</a:t>
            </a:r>
            <a:br>
              <a:rPr dirty="0"/>
            </a:br>
            <a:r>
              <a:rPr dirty="0"/>
              <a:t>143     if (!res[</a:t>
            </a:r>
            <a:r>
              <a:rPr dirty="0" err="1"/>
              <a:t>groupKey</a:t>
            </a:r>
            <a:r>
              <a:rPr dirty="0"/>
              <a:t>]) res[</a:t>
            </a:r>
            <a:r>
              <a:rPr dirty="0" err="1"/>
              <a:t>groupKey</a:t>
            </a:r>
            <a:r>
              <a:rPr dirty="0"/>
              <a:t>] = [];</a:t>
            </a:r>
            <a:br>
              <a:rPr dirty="0"/>
            </a:br>
            <a:r>
              <a:rPr dirty="0"/>
              <a:t>144     res[</a:t>
            </a:r>
            <a:r>
              <a:rPr dirty="0" err="1"/>
              <a:t>groupKey</a:t>
            </a:r>
            <a:r>
              <a:rPr dirty="0"/>
              <a:t>].push(item);</a:t>
            </a:r>
            <a:br>
              <a:rPr dirty="0"/>
            </a:br>
            <a:r>
              <a:rPr dirty="0"/>
              <a:t>145     return res;</a:t>
            </a:r>
            <a:br>
              <a:rPr dirty="0"/>
            </a:br>
            <a:r>
              <a:rPr dirty="0"/>
              <a:t>146   }, {} as Record&lt;string, T[]&gt;);</a:t>
            </a:r>
            <a:br>
              <a:rPr dirty="0"/>
            </a:br>
            <a:r>
              <a:rPr dirty="0"/>
              <a:t>147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 &lt;T&gt; makes the function reusable for any dataset.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lang="en-IN" dirty="0"/>
              <a:t>K</a:t>
            </a:r>
            <a:r>
              <a:rPr dirty="0" err="1"/>
              <a:t>ey</a:t>
            </a:r>
            <a:r>
              <a:rPr lang="en-IN" dirty="0"/>
              <a:t> </a:t>
            </a:r>
            <a:r>
              <a:rPr dirty="0"/>
              <a:t>of T ensures the grouping key is valid for the object type.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Return type uses Record&lt;string, T[]&gt; for strict typing.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for category grouping, year grouping, and monthly aggregation.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A0B50-0F71-03BA-604B-E6D3B158A73F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Utility Types – Partial&lt;T&gt; (appStore.ts Lines 38–40)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38 interface </a:t>
            </a:r>
            <a:r>
              <a:rPr dirty="0" err="1"/>
              <a:t>UpdateUserPayload</a:t>
            </a:r>
            <a:r>
              <a:rPr dirty="0"/>
              <a:t> extends Partial&lt;User&gt; {</a:t>
            </a:r>
            <a:br>
              <a:rPr dirty="0"/>
            </a:br>
            <a:r>
              <a:rPr dirty="0"/>
              <a:t>39   </a:t>
            </a:r>
            <a:r>
              <a:rPr dirty="0" err="1"/>
              <a:t>lastLogin</a:t>
            </a:r>
            <a:r>
              <a:rPr dirty="0"/>
              <a:t>?: string;</a:t>
            </a:r>
            <a:br>
              <a:rPr dirty="0"/>
            </a:br>
            <a:r>
              <a:rPr dirty="0"/>
              <a:t>40 }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Partial&lt;T&gt; makes all User properties optional.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Useful for updates where only some fields are changed.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Reduces redundant typing and improves flexibility.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Avoids manually re-declaring optional properties.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46FD5-3C4B-DC9B-B42A-C34B28067067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Type Assertions – Firestore Cast (firestoreService.ts Line 57)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57 return docs as </a:t>
            </a:r>
            <a:r>
              <a:rPr dirty="0" err="1"/>
              <a:t>EmissionRecord</a:t>
            </a:r>
            <a:r>
              <a:rPr dirty="0"/>
              <a:t>[];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Type assertions tell TypeScript what type a value should be.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Ensures UI components receive correctly typed emission data.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when </a:t>
            </a:r>
            <a:r>
              <a:rPr dirty="0" err="1"/>
              <a:t>Firestore</a:t>
            </a:r>
            <a:r>
              <a:rPr dirty="0"/>
              <a:t> returns unknown or loosely typed objects.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maintain type safety across the data pipeline.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2D1DC0-0E4F-D255-8F5B-625D3BAD7DB6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JSX Rendering – App Component (App.tsx Lines 24–34)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24 return (</a:t>
            </a:r>
            <a:br>
              <a:rPr dirty="0"/>
            </a:br>
            <a:r>
              <a:rPr dirty="0"/>
              <a:t>25   &lt;Router&gt;</a:t>
            </a:r>
            <a:br>
              <a:rPr dirty="0"/>
            </a:br>
            <a:r>
              <a:rPr dirty="0"/>
              <a:t>26     &lt;Navbar /&gt;</a:t>
            </a:r>
            <a:br>
              <a:rPr dirty="0"/>
            </a:br>
            <a:r>
              <a:rPr dirty="0"/>
              <a:t>27     &lt;main </a:t>
            </a:r>
            <a:r>
              <a:rPr dirty="0" err="1"/>
              <a:t>className</a:t>
            </a:r>
            <a:r>
              <a:rPr dirty="0"/>
              <a:t>="flex-1"&gt;</a:t>
            </a:r>
            <a:br>
              <a:rPr dirty="0"/>
            </a:br>
            <a:r>
              <a:rPr dirty="0"/>
              <a:t>28       &lt;Routes&gt;</a:t>
            </a:r>
            <a:br>
              <a:rPr dirty="0"/>
            </a:br>
            <a:r>
              <a:rPr dirty="0"/>
              <a:t>29         &lt;Route path="/" element={&lt;Dashboard /&gt;} /&gt;</a:t>
            </a:r>
            <a:br>
              <a:rPr dirty="0"/>
            </a:br>
            <a:r>
              <a:rPr dirty="0"/>
              <a:t>30       &lt;/Routes&gt;</a:t>
            </a:r>
            <a:br>
              <a:rPr dirty="0"/>
            </a:br>
            <a:r>
              <a:rPr dirty="0"/>
              <a:t>31     &lt;/main&gt;</a:t>
            </a:r>
            <a:br>
              <a:rPr dirty="0"/>
            </a:br>
            <a:r>
              <a:rPr dirty="0"/>
              <a:t>32     &lt;Footer /&gt;</a:t>
            </a:r>
            <a:br>
              <a:rPr dirty="0"/>
            </a:br>
            <a:r>
              <a:rPr dirty="0"/>
              <a:t>33   &lt;/Router&gt;</a:t>
            </a:r>
            <a:br>
              <a:rPr dirty="0"/>
            </a:br>
            <a:r>
              <a:rPr dirty="0"/>
              <a:t>34 );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JSX lets us write HTML-like UI directly inside JavaScript.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Router wraps the entire Single Page Application.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Each component (&lt;Navbar /&gt;, &lt;Dashboard /&gt;, &lt;Footer /&gt;) renders to actual DOM nodes.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JSX is transformed by Vite/Babel into </a:t>
            </a:r>
            <a:r>
              <a:rPr dirty="0" err="1"/>
              <a:t>React.createElement</a:t>
            </a:r>
            <a:r>
              <a:rPr dirty="0"/>
              <a:t>() calls.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466D3-0D9D-569C-545F-15D1B23ABF94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Functional Components – KPICard (KPICard.tsx Lines 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export const </a:t>
            </a:r>
            <a:r>
              <a:rPr dirty="0" err="1"/>
              <a:t>KPICard</a:t>
            </a:r>
            <a:r>
              <a:rPr dirty="0"/>
              <a:t>: </a:t>
            </a:r>
            <a:r>
              <a:rPr dirty="0" err="1"/>
              <a:t>React.FC</a:t>
            </a:r>
            <a:r>
              <a:rPr dirty="0"/>
              <a:t>&lt;</a:t>
            </a:r>
            <a:r>
              <a:rPr dirty="0" err="1"/>
              <a:t>KPICardProps</a:t>
            </a:r>
            <a:r>
              <a:rPr dirty="0"/>
              <a:t>&gt; = ({</a:t>
            </a:r>
            <a:br>
              <a:rPr dirty="0"/>
            </a:br>
            <a:r>
              <a:rPr dirty="0"/>
              <a:t>2   title,</a:t>
            </a:r>
            <a:br>
              <a:rPr dirty="0"/>
            </a:br>
            <a:r>
              <a:rPr dirty="0"/>
              <a:t>3   value,</a:t>
            </a:r>
            <a:br>
              <a:rPr dirty="0"/>
            </a:br>
            <a:r>
              <a:rPr dirty="0"/>
              <a:t>4   unit = "kg </a:t>
            </a:r>
            <a:r>
              <a:rPr dirty="0" err="1"/>
              <a:t>CO₂e</a:t>
            </a:r>
            <a:r>
              <a:rPr dirty="0"/>
              <a:t>",</a:t>
            </a:r>
            <a:br>
              <a:rPr dirty="0"/>
            </a:br>
            <a:r>
              <a:rPr dirty="0"/>
              <a:t>5   trend,</a:t>
            </a:r>
            <a:br>
              <a:rPr dirty="0"/>
            </a:br>
            <a:r>
              <a:rPr dirty="0"/>
              <a:t>6 }) =&gt; {</a:t>
            </a:r>
            <a:br>
              <a:rPr dirty="0"/>
            </a:br>
            <a:r>
              <a:rPr dirty="0"/>
              <a:t>7   return (</a:t>
            </a:r>
            <a:br>
              <a:rPr dirty="0"/>
            </a:br>
            <a:r>
              <a:rPr dirty="0"/>
              <a:t>8     &lt;div </a:t>
            </a:r>
            <a:r>
              <a:rPr dirty="0" err="1"/>
              <a:t>className</a:t>
            </a:r>
            <a:r>
              <a:rPr dirty="0"/>
              <a:t>="card"&gt;</a:t>
            </a:r>
            <a:br>
              <a:rPr dirty="0"/>
            </a:br>
            <a:r>
              <a:rPr dirty="0"/>
              <a:t>9       &lt;p&gt;{title}&lt;/p&gt;</a:t>
            </a:r>
            <a:br>
              <a:rPr dirty="0"/>
            </a:br>
            <a:r>
              <a:rPr dirty="0"/>
              <a:t>10      &lt;p&gt;{value} {unit}&lt;/p&gt;</a:t>
            </a:r>
            <a:br>
              <a:rPr dirty="0"/>
            </a:br>
            <a:r>
              <a:rPr dirty="0"/>
              <a:t>11     &lt;/div&gt;</a:t>
            </a:r>
            <a:br>
              <a:rPr dirty="0"/>
            </a:br>
            <a:r>
              <a:rPr dirty="0"/>
              <a:t>12   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React.FC</a:t>
            </a:r>
            <a:r>
              <a:rPr dirty="0"/>
              <a:t> defines a typed functional component.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Props are </a:t>
            </a:r>
            <a:r>
              <a:rPr dirty="0" err="1"/>
              <a:t>destructured</a:t>
            </a:r>
            <a:r>
              <a:rPr dirty="0"/>
              <a:t> immediately for cleaner usage.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Functional components are simpler than class components and preferred in modern React.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They work seamlessly with React Hooks.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BA9E7-BC7B-6DE6-365A-F77FBD453D18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Props Usage – Passing Data into Components (KPICard.tsx Lines 13–20)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13 &lt;</a:t>
            </a:r>
            <a:r>
              <a:rPr dirty="0" err="1"/>
              <a:t>KPICard</a:t>
            </a:r>
            <a:br>
              <a:rPr dirty="0"/>
            </a:br>
            <a:r>
              <a:rPr dirty="0"/>
              <a:t>14   title="Total Emissions"</a:t>
            </a:r>
            <a:br>
              <a:rPr dirty="0"/>
            </a:br>
            <a:r>
              <a:rPr dirty="0"/>
              <a:t>15   value={1234.56}</a:t>
            </a:r>
            <a:br>
              <a:rPr dirty="0"/>
            </a:br>
            <a:r>
              <a:rPr dirty="0"/>
              <a:t>16   unit="kg </a:t>
            </a:r>
            <a:r>
              <a:rPr dirty="0" err="1"/>
              <a:t>CO₂e</a:t>
            </a:r>
            <a:r>
              <a:rPr dirty="0"/>
              <a:t>"</a:t>
            </a:r>
            <a:br>
              <a:rPr dirty="0"/>
            </a:br>
            <a:r>
              <a:rPr dirty="0"/>
              <a:t>17   trend={5.2}</a:t>
            </a:r>
            <a:br>
              <a:rPr dirty="0"/>
            </a:br>
            <a:r>
              <a:rPr dirty="0"/>
              <a:t>18   </a:t>
            </a:r>
            <a:r>
              <a:rPr dirty="0" err="1"/>
              <a:t>trendDirection</a:t>
            </a:r>
            <a:r>
              <a:rPr dirty="0"/>
              <a:t>="down"</a:t>
            </a:r>
            <a:br>
              <a:rPr dirty="0"/>
            </a:br>
            <a:r>
              <a:rPr dirty="0"/>
              <a:t>19 /&gt;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Props allow parent components to pass data to child components.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Props are read-only, ensuring predictable data flow.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promotes reusable UI components.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Strong TypeScript typing prevents invalid prop usage.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8F46-AAF1-4023-15E5-8322290923C9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useState – Local Component State (Dashboard.tsx Lines 11–12)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11 const [</a:t>
            </a:r>
            <a:r>
              <a:rPr dirty="0" err="1"/>
              <a:t>selectedMonth</a:t>
            </a:r>
            <a:r>
              <a:rPr dirty="0"/>
              <a:t>, </a:t>
            </a:r>
            <a:r>
              <a:rPr dirty="0" err="1"/>
              <a:t>setSelectedMonth</a:t>
            </a:r>
            <a:r>
              <a:rPr dirty="0"/>
              <a:t>] = </a:t>
            </a:r>
            <a:r>
              <a:rPr dirty="0" err="1"/>
              <a:t>React.useState</a:t>
            </a:r>
            <a:r>
              <a:rPr dirty="0"/>
              <a:t>(new Date().</a:t>
            </a:r>
            <a:r>
              <a:rPr dirty="0" err="1"/>
              <a:t>getMonth</a:t>
            </a:r>
            <a:r>
              <a:rPr dirty="0"/>
              <a:t>() + 1);</a:t>
            </a:r>
            <a:br>
              <a:rPr dirty="0"/>
            </a:br>
            <a:r>
              <a:rPr dirty="0"/>
              <a:t>12 const [</a:t>
            </a:r>
            <a:r>
              <a:rPr dirty="0" err="1"/>
              <a:t>selectedYear</a:t>
            </a:r>
            <a:r>
              <a:rPr dirty="0"/>
              <a:t>, </a:t>
            </a:r>
            <a:r>
              <a:rPr dirty="0" err="1"/>
              <a:t>setSelectedYear</a:t>
            </a:r>
            <a:r>
              <a:rPr dirty="0"/>
              <a:t>] = </a:t>
            </a:r>
            <a:r>
              <a:rPr dirty="0" err="1"/>
              <a:t>React.useState</a:t>
            </a:r>
            <a:r>
              <a:rPr dirty="0"/>
              <a:t>(new Date().</a:t>
            </a:r>
            <a:r>
              <a:rPr dirty="0" err="1"/>
              <a:t>getFullYear</a:t>
            </a:r>
            <a:r>
              <a:rPr dirty="0"/>
              <a:t>());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useState</a:t>
            </a:r>
            <a:r>
              <a:rPr dirty="0"/>
              <a:t> creates reactive state inside functional components.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Changing state triggers re-rendering of the component.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for filters, forms, toggles, modals, and UI selection.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lang="en-US" dirty="0"/>
              <a:t>React ensures state updates propagate efficiently.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E5ECFC-85C1-5ABC-C964-3216DF91A381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useEffect – Side Effects (App.tsx Lines 22–34)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22 </a:t>
            </a:r>
            <a:r>
              <a:rPr dirty="0" err="1"/>
              <a:t>React.useEffect</a:t>
            </a:r>
            <a:r>
              <a:rPr dirty="0"/>
              <a:t>(() =&gt; {</a:t>
            </a:r>
            <a:br>
              <a:rPr dirty="0"/>
            </a:br>
            <a:r>
              <a:rPr dirty="0"/>
              <a:t>23   if (theme === "dark")</a:t>
            </a:r>
            <a:br>
              <a:rPr dirty="0"/>
            </a:br>
            <a:r>
              <a:rPr dirty="0"/>
              <a:t>24     </a:t>
            </a:r>
            <a:r>
              <a:rPr dirty="0" err="1"/>
              <a:t>document.documentElement.classList.add</a:t>
            </a:r>
            <a:r>
              <a:rPr dirty="0"/>
              <a:t>("dark");</a:t>
            </a:r>
            <a:br>
              <a:rPr dirty="0"/>
            </a:br>
            <a:r>
              <a:rPr dirty="0"/>
              <a:t>25   else</a:t>
            </a:r>
            <a:br>
              <a:rPr dirty="0"/>
            </a:br>
            <a:r>
              <a:rPr dirty="0"/>
              <a:t>26     </a:t>
            </a:r>
            <a:r>
              <a:rPr dirty="0" err="1"/>
              <a:t>document.documentElement.classList.remove</a:t>
            </a:r>
            <a:r>
              <a:rPr dirty="0"/>
              <a:t>("dark");</a:t>
            </a:r>
            <a:br>
              <a:rPr dirty="0"/>
            </a:br>
            <a:r>
              <a:rPr dirty="0"/>
              <a:t>27 }, [theme]);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useEffect</a:t>
            </a:r>
            <a:r>
              <a:rPr dirty="0"/>
              <a:t> handles side-effects like DOM updates, API calls, and listeners.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Dependency array [theme] ensures effect runs only when theme changes.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Applying/removing classes is a direct DOM manipulation case.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keep UI theme synced with app state.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BFA98-7861-0382-9F7B-839EE5228C51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Lifting State Up – Shared State (Dashboard → Components)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23 const Dashboard = () =&gt; {</a:t>
            </a:r>
            <a:br>
              <a:rPr dirty="0"/>
            </a:br>
            <a:r>
              <a:rPr dirty="0"/>
              <a:t>24   const { records } = </a:t>
            </a:r>
            <a:r>
              <a:rPr dirty="0" err="1"/>
              <a:t>useAppStore</a:t>
            </a:r>
            <a:r>
              <a:rPr dirty="0"/>
              <a:t>();</a:t>
            </a:r>
            <a:br>
              <a:rPr dirty="0"/>
            </a:br>
            <a:r>
              <a:rPr dirty="0"/>
              <a:t>25   const total = </a:t>
            </a:r>
            <a:r>
              <a:rPr dirty="0" err="1"/>
              <a:t>calculateTotalEmissions</a:t>
            </a:r>
            <a:r>
              <a:rPr dirty="0"/>
              <a:t>(records);</a:t>
            </a:r>
            <a:br>
              <a:rPr dirty="0"/>
            </a:br>
            <a:r>
              <a:rPr dirty="0"/>
              <a:t>26   return &lt;</a:t>
            </a:r>
            <a:r>
              <a:rPr dirty="0" err="1"/>
              <a:t>KPICard</a:t>
            </a:r>
            <a:r>
              <a:rPr dirty="0"/>
              <a:t> title="Total" value={total} /&gt;;</a:t>
            </a:r>
            <a:br>
              <a:rPr dirty="0"/>
            </a:br>
            <a:r>
              <a:rPr dirty="0"/>
              <a:t>27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Parent component (Dashboard) computes data.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Child components (</a:t>
            </a:r>
            <a:r>
              <a:rPr dirty="0" err="1"/>
              <a:t>KPICard</a:t>
            </a:r>
            <a:r>
              <a:rPr dirty="0"/>
              <a:t>) receive formatted results.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avoids duplicating state logic.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Zustand</a:t>
            </a:r>
            <a:r>
              <a:rPr dirty="0"/>
              <a:t> serves as a global state layer shared across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FBDAD-FF3C-690D-A238-3A104B282B3B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Controlled Inputs – Login Form (Login.tsx Lines 75–83)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75 &lt;input</a:t>
            </a:r>
            <a:br>
              <a:rPr dirty="0"/>
            </a:br>
            <a:r>
              <a:rPr dirty="0"/>
              <a:t>76   name="email"</a:t>
            </a:r>
            <a:br>
              <a:rPr dirty="0"/>
            </a:br>
            <a:r>
              <a:rPr dirty="0"/>
              <a:t>77   value={</a:t>
            </a:r>
            <a:r>
              <a:rPr dirty="0" err="1"/>
              <a:t>formData.email</a:t>
            </a:r>
            <a:r>
              <a:rPr dirty="0"/>
              <a:t>}</a:t>
            </a:r>
            <a:br>
              <a:rPr dirty="0"/>
            </a:br>
            <a:r>
              <a:rPr dirty="0"/>
              <a:t>78   </a:t>
            </a:r>
            <a:r>
              <a:rPr dirty="0" err="1"/>
              <a:t>onChange</a:t>
            </a:r>
            <a:r>
              <a:rPr dirty="0"/>
              <a:t>={</a:t>
            </a:r>
            <a:r>
              <a:rPr dirty="0" err="1"/>
              <a:t>handleChange</a:t>
            </a:r>
            <a:r>
              <a:rPr dirty="0"/>
              <a:t>}</a:t>
            </a:r>
            <a:br>
              <a:rPr dirty="0"/>
            </a:br>
            <a:r>
              <a:rPr dirty="0"/>
              <a:t>79   </a:t>
            </a:r>
            <a:r>
              <a:rPr dirty="0" err="1"/>
              <a:t>className</a:t>
            </a:r>
            <a:r>
              <a:rPr dirty="0"/>
              <a:t>="input-base"</a:t>
            </a:r>
            <a:br>
              <a:rPr dirty="0"/>
            </a:br>
            <a:r>
              <a:rPr dirty="0"/>
              <a:t>80 /&gt;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Controlled components rely on state to store input values.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Every keystroke triggers an </a:t>
            </a:r>
            <a:r>
              <a:rPr dirty="0" err="1"/>
              <a:t>onChange</a:t>
            </a:r>
            <a:r>
              <a:rPr dirty="0"/>
              <a:t> event updating state.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Ensures form validation and consistency.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No direct DOM reads needed (unlike </a:t>
            </a:r>
            <a:r>
              <a:rPr dirty="0" err="1"/>
              <a:t>document.querySelector</a:t>
            </a:r>
            <a:r>
              <a:rPr dirty="0"/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A10171-FC9F-1199-B438-5440F26893C4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Custom Hooks – Zustand Store Wrapper (appStore.ts Lines 33–50)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33 export const </a:t>
            </a:r>
            <a:r>
              <a:rPr dirty="0" err="1"/>
              <a:t>useAppStore</a:t>
            </a:r>
            <a:r>
              <a:rPr dirty="0"/>
              <a:t> = create&lt;AppStore&gt;()(</a:t>
            </a:r>
            <a:br>
              <a:rPr dirty="0"/>
            </a:br>
            <a:r>
              <a:rPr dirty="0"/>
              <a:t>34   (set, get) =&gt; ({</a:t>
            </a:r>
            <a:br>
              <a:rPr dirty="0"/>
            </a:br>
            <a:r>
              <a:rPr dirty="0"/>
              <a:t>35     user: null,</a:t>
            </a:r>
            <a:br>
              <a:rPr dirty="0"/>
            </a:br>
            <a:r>
              <a:rPr dirty="0"/>
              <a:t>36     </a:t>
            </a:r>
            <a:r>
              <a:rPr dirty="0" err="1"/>
              <a:t>setUser</a:t>
            </a:r>
            <a:r>
              <a:rPr dirty="0"/>
              <a:t>: (u) =&gt; set({ user: u }),</a:t>
            </a:r>
            <a:br>
              <a:rPr dirty="0"/>
            </a:br>
            <a:r>
              <a:rPr dirty="0"/>
              <a:t>37     theme: "light",</a:t>
            </a:r>
            <a:br>
              <a:rPr dirty="0"/>
            </a:br>
            <a:r>
              <a:rPr dirty="0"/>
              <a:t>38     </a:t>
            </a:r>
            <a:r>
              <a:rPr dirty="0" err="1"/>
              <a:t>setTheme</a:t>
            </a:r>
            <a:r>
              <a:rPr dirty="0"/>
              <a:t>: (t) =&gt; set({ theme: t }),</a:t>
            </a:r>
            <a:br>
              <a:rPr dirty="0"/>
            </a:br>
            <a:r>
              <a:rPr dirty="0"/>
              <a:t>39   })</a:t>
            </a:r>
            <a:br>
              <a:rPr dirty="0"/>
            </a:br>
            <a:r>
              <a:rPr dirty="0"/>
              <a:t>40 );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Custom hooks encapsulate shared logic (here </a:t>
            </a:r>
            <a:r>
              <a:rPr dirty="0" err="1"/>
              <a:t>Zustand</a:t>
            </a:r>
            <a:r>
              <a:rPr dirty="0"/>
              <a:t> state logic).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Anywhere in the app, components simply call </a:t>
            </a:r>
            <a:r>
              <a:rPr dirty="0" err="1"/>
              <a:t>useAppStore</a:t>
            </a:r>
            <a:r>
              <a:rPr dirty="0"/>
              <a:t>().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Eliminates prop-drilling and simplifies app-wide state access.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implement global user/session/theme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0D9DA5-9C2A-1F2A-09E2-D4B71CD33F8F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useMemo – Performance Optimization (Dashboard.tsx Lines 23–28)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23 const </a:t>
            </a:r>
            <a:r>
              <a:rPr dirty="0" err="1"/>
              <a:t>monthlyTotals</a:t>
            </a:r>
            <a:r>
              <a:rPr dirty="0"/>
              <a:t> = </a:t>
            </a:r>
            <a:r>
              <a:rPr dirty="0" err="1"/>
              <a:t>React.useMemo</a:t>
            </a:r>
            <a:r>
              <a:rPr dirty="0"/>
              <a:t>(() =&gt; {</a:t>
            </a:r>
            <a:br>
              <a:rPr dirty="0"/>
            </a:br>
            <a:r>
              <a:rPr dirty="0"/>
              <a:t>24   return </a:t>
            </a:r>
            <a:r>
              <a:rPr dirty="0" err="1"/>
              <a:t>calculateMonthlyTotals</a:t>
            </a:r>
            <a:r>
              <a:rPr dirty="0"/>
              <a:t>(records);</a:t>
            </a:r>
            <a:br>
              <a:rPr dirty="0"/>
            </a:br>
            <a:r>
              <a:rPr dirty="0"/>
              <a:t>25 }, [records]);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useMemo</a:t>
            </a:r>
            <a:r>
              <a:rPr dirty="0"/>
              <a:t> caches computation results.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Prevents expensive recalculations on every re-render.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Ideal for summarizing large datasets (emission records).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Improves dashboard responsiveness.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235C60-3412-75FD-EC91-EA61846EDE83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Component Lifecycle via Hooks (App.tsx &amp;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• Mount: </a:t>
            </a:r>
            <a:r>
              <a:rPr dirty="0" err="1"/>
              <a:t>useEffect</a:t>
            </a:r>
            <a:r>
              <a:rPr dirty="0"/>
              <a:t>(() =&gt; { </a:t>
            </a:r>
            <a:r>
              <a:rPr dirty="0" err="1"/>
              <a:t>loadRecords</a:t>
            </a:r>
            <a:r>
              <a:rPr dirty="0"/>
              <a:t>(); }, [])</a:t>
            </a:r>
            <a:br>
              <a:rPr dirty="0"/>
            </a:br>
            <a:r>
              <a:rPr dirty="0"/>
              <a:t>• Update: </a:t>
            </a:r>
            <a:r>
              <a:rPr dirty="0" err="1"/>
              <a:t>useEffect</a:t>
            </a:r>
            <a:r>
              <a:rPr dirty="0"/>
              <a:t>(() =&gt; { </a:t>
            </a:r>
            <a:r>
              <a:rPr dirty="0" err="1"/>
              <a:t>syncTheme</a:t>
            </a:r>
            <a:r>
              <a:rPr dirty="0"/>
              <a:t>(); }, [theme])</a:t>
            </a:r>
            <a:br>
              <a:rPr dirty="0"/>
            </a:br>
            <a:r>
              <a:rPr dirty="0"/>
              <a:t>• Unmount: return () =&gt; unsubscribe();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Hooks re-create lifecycle stages of class components.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Mount = initial execution when component loads.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Update = triggered when dependencies change.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Unmount = cleanup to prevent memory leaks.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Used heavily in authentication + </a:t>
            </a:r>
            <a:r>
              <a:rPr dirty="0" err="1"/>
              <a:t>Firestore</a:t>
            </a:r>
            <a:r>
              <a:rPr dirty="0"/>
              <a:t> listeners.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0A6389-B98F-13E6-E7D1-70E1D5A257E0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React Router – App Routes (App.tsx Lines 45–61)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45 &lt;Routes&gt;</a:t>
            </a:r>
            <a:br>
              <a:rPr dirty="0"/>
            </a:br>
            <a:r>
              <a:rPr dirty="0"/>
              <a:t>46   &lt;Route path="/login" element={&lt;Login /&gt;} /&gt;</a:t>
            </a:r>
            <a:br>
              <a:rPr dirty="0"/>
            </a:br>
            <a:r>
              <a:rPr dirty="0"/>
              <a:t>47   &lt;Route path="/" element={&lt;</a:t>
            </a:r>
            <a:r>
              <a:rPr dirty="0" err="1"/>
              <a:t>ProtectedRoute</a:t>
            </a:r>
            <a:r>
              <a:rPr dirty="0"/>
              <a:t>&gt;&lt;Dashboard /&gt;&lt;/</a:t>
            </a:r>
            <a:r>
              <a:rPr dirty="0" err="1"/>
              <a:t>ProtectedRoute</a:t>
            </a:r>
            <a:r>
              <a:rPr dirty="0"/>
              <a:t>&gt;} /&gt;</a:t>
            </a:r>
            <a:br>
              <a:rPr dirty="0"/>
            </a:br>
            <a:r>
              <a:rPr dirty="0"/>
              <a:t>48   &lt;Route path="/data-entry" element={&lt;</a:t>
            </a:r>
            <a:r>
              <a:rPr dirty="0" err="1"/>
              <a:t>ProtectedRoute</a:t>
            </a:r>
            <a:r>
              <a:rPr dirty="0"/>
              <a:t>&gt;&lt;</a:t>
            </a:r>
            <a:r>
              <a:rPr dirty="0" err="1"/>
              <a:t>DataEntry</a:t>
            </a:r>
            <a:r>
              <a:rPr dirty="0"/>
              <a:t> /&gt;&lt;/</a:t>
            </a:r>
            <a:r>
              <a:rPr dirty="0" err="1"/>
              <a:t>ProtectedRoute</a:t>
            </a:r>
            <a:r>
              <a:rPr dirty="0"/>
              <a:t>&gt;} /&gt;</a:t>
            </a:r>
            <a:br>
              <a:rPr dirty="0"/>
            </a:br>
            <a:r>
              <a:rPr dirty="0"/>
              <a:t>49   &lt;Route path="/calculator" element={&lt;</a:t>
            </a:r>
            <a:r>
              <a:rPr dirty="0" err="1"/>
              <a:t>ProtectedRoute</a:t>
            </a:r>
            <a:r>
              <a:rPr dirty="0"/>
              <a:t>&gt;&lt;</a:t>
            </a:r>
            <a:r>
              <a:rPr dirty="0" err="1"/>
              <a:t>CarbonCalculator</a:t>
            </a:r>
            <a:r>
              <a:rPr dirty="0"/>
              <a:t> /&gt;&lt;/</a:t>
            </a:r>
            <a:r>
              <a:rPr dirty="0" err="1"/>
              <a:t>ProtectedRoute</a:t>
            </a:r>
            <a:r>
              <a:rPr dirty="0"/>
              <a:t>&gt;} /&gt;</a:t>
            </a:r>
            <a:br>
              <a:rPr dirty="0"/>
            </a:br>
            <a:r>
              <a:rPr dirty="0"/>
              <a:t>50   &lt;Route path="/reports" element={&lt;</a:t>
            </a:r>
            <a:r>
              <a:rPr dirty="0" err="1"/>
              <a:t>ProtectedRoute</a:t>
            </a:r>
            <a:r>
              <a:rPr dirty="0"/>
              <a:t>&gt;&lt;Reports /&gt;&lt;/</a:t>
            </a:r>
            <a:r>
              <a:rPr dirty="0" err="1"/>
              <a:t>ProtectedRoute</a:t>
            </a:r>
            <a:r>
              <a:rPr dirty="0"/>
              <a:t>&gt;} /&gt;</a:t>
            </a:r>
            <a:br>
              <a:rPr dirty="0"/>
            </a:br>
            <a:r>
              <a:rPr dirty="0"/>
              <a:t>51   &lt;Route path="*" element={&lt;Navigate to="/" replace /&gt;} /&gt;</a:t>
            </a:r>
            <a:br>
              <a:rPr dirty="0"/>
            </a:br>
            <a:r>
              <a:rPr dirty="0"/>
              <a:t>52 &lt;/Routes&gt;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React Router controls navigation in this Single Page Application.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Each Route maps a path to a React component.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ProtectedRoute</a:t>
            </a:r>
            <a:r>
              <a:rPr dirty="0"/>
              <a:t> wraps private routes so only authenticated users can access them.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wildcard route (*) redirects unknown paths back to the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944A7-560F-4A6F-40E7-7E46061EA34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ProtectedRoute – Route Guard (ProtectedRoute.tsx Lines 1–17)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  export const </a:t>
            </a:r>
            <a:r>
              <a:rPr dirty="0" err="1"/>
              <a:t>ProtectedRoute</a:t>
            </a:r>
            <a:r>
              <a:rPr dirty="0"/>
              <a:t>: </a:t>
            </a:r>
            <a:r>
              <a:rPr dirty="0" err="1"/>
              <a:t>React.FC</a:t>
            </a:r>
            <a:r>
              <a:rPr dirty="0"/>
              <a:t>&lt;{ children: </a:t>
            </a:r>
            <a:r>
              <a:rPr dirty="0" err="1"/>
              <a:t>React.ReactNode</a:t>
            </a:r>
            <a:r>
              <a:rPr dirty="0"/>
              <a:t> }&gt; = ({ children }) =&gt; {</a:t>
            </a:r>
            <a:br>
              <a:rPr dirty="0"/>
            </a:br>
            <a:r>
              <a:rPr dirty="0"/>
              <a:t>2    const { user } = </a:t>
            </a:r>
            <a:r>
              <a:rPr dirty="0" err="1"/>
              <a:t>useAppStore</a:t>
            </a:r>
            <a:r>
              <a:rPr dirty="0"/>
              <a:t>();</a:t>
            </a:r>
            <a:br>
              <a:rPr dirty="0"/>
            </a:br>
            <a:r>
              <a:rPr dirty="0"/>
              <a:t>3    if (!user) {</a:t>
            </a:r>
            <a:br>
              <a:rPr dirty="0"/>
            </a:br>
            <a:r>
              <a:rPr dirty="0"/>
              <a:t>4      return &lt;Navigate to="/login" replace /&gt;;</a:t>
            </a:r>
            <a:br>
              <a:rPr dirty="0"/>
            </a:br>
            <a:r>
              <a:rPr dirty="0"/>
              <a:t>5    }</a:t>
            </a:r>
            <a:br>
              <a:rPr dirty="0"/>
            </a:br>
            <a:r>
              <a:rPr dirty="0"/>
              <a:t>6    return &lt;&gt;{children}&lt;/&gt;;</a:t>
            </a:r>
            <a:br>
              <a:rPr dirty="0"/>
            </a:br>
            <a:r>
              <a:rPr dirty="0"/>
              <a:t>7 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ProtectedRoute</a:t>
            </a:r>
            <a:r>
              <a:rPr dirty="0"/>
              <a:t> reads the current user from the global store.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If user is null, it redirects to the /login route.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If authenticated, it renders the nested children components.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pattern centralizes authentication checks for all private pages.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4B309A-E409-F501-3D7E-9D4F11D39044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Programmatic Navigation – useNavigate (Login.tsx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60 const navigate = </a:t>
            </a:r>
            <a:r>
              <a:rPr dirty="0" err="1"/>
              <a:t>useNavigate</a:t>
            </a:r>
            <a:r>
              <a:rPr dirty="0"/>
              <a:t>();</a:t>
            </a:r>
            <a:br>
              <a:rPr dirty="0"/>
            </a:br>
            <a:r>
              <a:rPr dirty="0"/>
              <a:t>61 ...</a:t>
            </a:r>
            <a:br>
              <a:rPr dirty="0"/>
            </a:br>
            <a:r>
              <a:rPr dirty="0"/>
              <a:t>82 const </a:t>
            </a:r>
            <a:r>
              <a:rPr dirty="0" err="1"/>
              <a:t>handleSuccess</a:t>
            </a:r>
            <a:r>
              <a:rPr dirty="0"/>
              <a:t> = (user) =&gt; {</a:t>
            </a:r>
            <a:br>
              <a:rPr dirty="0"/>
            </a:br>
            <a:r>
              <a:rPr dirty="0"/>
              <a:t>83   </a:t>
            </a:r>
            <a:r>
              <a:rPr dirty="0" err="1"/>
              <a:t>setUser</a:t>
            </a:r>
            <a:r>
              <a:rPr dirty="0"/>
              <a:t>(user);</a:t>
            </a:r>
            <a:br>
              <a:rPr dirty="0"/>
            </a:br>
            <a:r>
              <a:rPr dirty="0"/>
              <a:t>84   navigate("/");</a:t>
            </a:r>
            <a:br>
              <a:rPr dirty="0"/>
            </a:br>
            <a:r>
              <a:rPr dirty="0"/>
              <a:t>85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useNavigate</a:t>
            </a:r>
            <a:r>
              <a:rPr dirty="0"/>
              <a:t> enables navigation from inside event handlers.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After successful login or signup, the user is redirected to the dashboard.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replaces traditional </a:t>
            </a:r>
            <a:r>
              <a:rPr dirty="0" err="1"/>
              <a:t>window.location</a:t>
            </a:r>
            <a:r>
              <a:rPr dirty="0"/>
              <a:t> changes in SPAs.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Keeps routing controlled by React Router instead of the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73A0F7-B97F-209E-371F-57628C6E6988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Data Layer – Firestore Query (firestoreService.ts Lines 53–60)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53 export const </a:t>
            </a:r>
            <a:r>
              <a:rPr dirty="0" err="1"/>
              <a:t>getUserEmissionRecords</a:t>
            </a:r>
            <a:r>
              <a:rPr dirty="0"/>
              <a:t> = async (</a:t>
            </a:r>
            <a:r>
              <a:rPr dirty="0" err="1"/>
              <a:t>userId</a:t>
            </a:r>
            <a:r>
              <a:rPr dirty="0"/>
              <a:t>: string) =&gt; {</a:t>
            </a:r>
            <a:br>
              <a:rPr dirty="0"/>
            </a:br>
            <a:r>
              <a:rPr dirty="0"/>
              <a:t>54   const </a:t>
            </a:r>
            <a:r>
              <a:rPr dirty="0" err="1"/>
              <a:t>recordsRef</a:t>
            </a:r>
            <a:r>
              <a:rPr dirty="0"/>
              <a:t> = collection(</a:t>
            </a:r>
            <a:r>
              <a:rPr dirty="0" err="1"/>
              <a:t>db</a:t>
            </a:r>
            <a:r>
              <a:rPr dirty="0"/>
              <a:t>, 'users', </a:t>
            </a:r>
            <a:r>
              <a:rPr dirty="0" err="1"/>
              <a:t>userId</a:t>
            </a:r>
            <a:r>
              <a:rPr dirty="0"/>
              <a:t>, 'records');</a:t>
            </a:r>
            <a:br>
              <a:rPr dirty="0"/>
            </a:br>
            <a:r>
              <a:rPr dirty="0"/>
              <a:t>55   const q = query(</a:t>
            </a:r>
            <a:r>
              <a:rPr dirty="0" err="1"/>
              <a:t>recordsRef</a:t>
            </a:r>
            <a:r>
              <a:rPr dirty="0"/>
              <a:t>, </a:t>
            </a:r>
            <a:r>
              <a:rPr dirty="0" err="1"/>
              <a:t>orderBy</a:t>
            </a:r>
            <a:r>
              <a:rPr dirty="0"/>
              <a:t>('timestamp', 'desc'));</a:t>
            </a:r>
            <a:br>
              <a:rPr dirty="0"/>
            </a:br>
            <a:r>
              <a:rPr dirty="0"/>
              <a:t>56   const </a:t>
            </a:r>
            <a:r>
              <a:rPr dirty="0" err="1"/>
              <a:t>querySnapshot</a:t>
            </a:r>
            <a:r>
              <a:rPr dirty="0"/>
              <a:t> = await </a:t>
            </a:r>
            <a:r>
              <a:rPr dirty="0" err="1"/>
              <a:t>getDocs</a:t>
            </a:r>
            <a:r>
              <a:rPr dirty="0"/>
              <a:t>(q);</a:t>
            </a:r>
            <a:br>
              <a:rPr dirty="0"/>
            </a:br>
            <a:r>
              <a:rPr dirty="0"/>
              <a:t>57   return </a:t>
            </a:r>
            <a:r>
              <a:rPr dirty="0" err="1"/>
              <a:t>querySnapshot.docs.map</a:t>
            </a:r>
            <a:r>
              <a:rPr dirty="0"/>
              <a:t>((doc) =&gt; ({ id: doc.id, ...</a:t>
            </a:r>
            <a:r>
              <a:rPr dirty="0" err="1"/>
              <a:t>doc.data</a:t>
            </a:r>
            <a:r>
              <a:rPr dirty="0"/>
              <a:t>() }));</a:t>
            </a:r>
            <a:br>
              <a:rPr dirty="0"/>
            </a:br>
            <a:r>
              <a:rPr dirty="0"/>
              <a:t>58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Firestore</a:t>
            </a:r>
            <a:r>
              <a:rPr dirty="0"/>
              <a:t> SDK acts as the data-fetch layer instead of manual fetch or Axios.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getDocs</a:t>
            </a:r>
            <a:r>
              <a:rPr dirty="0"/>
              <a:t> executes a query and returns a Promise.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Async/await converts this into approachable, synchronous-looking code.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function is the primary way the app loads emission records.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10749C-CB9C-0D15-1A08-1C38AFF84DE9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Async Data Loading – Zustand Store (appStore.ts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90 </a:t>
            </a:r>
            <a:r>
              <a:rPr dirty="0" err="1"/>
              <a:t>loadRecords</a:t>
            </a:r>
            <a:r>
              <a:rPr dirty="0"/>
              <a:t>: async () =&gt; {</a:t>
            </a:r>
            <a:br>
              <a:rPr dirty="0"/>
            </a:br>
            <a:r>
              <a:rPr dirty="0"/>
              <a:t>91   const { user } = get();</a:t>
            </a:r>
            <a:br>
              <a:rPr dirty="0"/>
            </a:br>
            <a:r>
              <a:rPr dirty="0"/>
              <a:t>92   if (!user) return;</a:t>
            </a:r>
            <a:br>
              <a:rPr dirty="0"/>
            </a:br>
            <a:r>
              <a:rPr dirty="0"/>
              <a:t>93   const records = await </a:t>
            </a:r>
            <a:r>
              <a:rPr dirty="0" err="1"/>
              <a:t>getUserEmissionRecords</a:t>
            </a:r>
            <a:r>
              <a:rPr dirty="0"/>
              <a:t>(</a:t>
            </a:r>
            <a:r>
              <a:rPr dirty="0" err="1"/>
              <a:t>user.uid</a:t>
            </a:r>
            <a:r>
              <a:rPr dirty="0"/>
              <a:t>);</a:t>
            </a:r>
            <a:br>
              <a:rPr dirty="0"/>
            </a:br>
            <a:r>
              <a:rPr dirty="0"/>
              <a:t>94   set({ records });</a:t>
            </a:r>
            <a:br>
              <a:rPr dirty="0"/>
            </a:br>
            <a:r>
              <a:rPr dirty="0"/>
              <a:t>95 },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loadRecords</a:t>
            </a:r>
            <a:r>
              <a:rPr dirty="0"/>
              <a:t> is an async action defined in the global store.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It calls </a:t>
            </a:r>
            <a:r>
              <a:rPr dirty="0" err="1"/>
              <a:t>Firestore</a:t>
            </a:r>
            <a:r>
              <a:rPr dirty="0"/>
              <a:t> via </a:t>
            </a:r>
            <a:r>
              <a:rPr dirty="0" err="1"/>
              <a:t>getUserEmissionRecords</a:t>
            </a:r>
            <a:r>
              <a:rPr dirty="0"/>
              <a:t> using the logged-in user ID.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Once data is fetched, the records slice of state is updated.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All components subscribed to records automatically re-render.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4B01D3-C760-915C-E97B-CD65AA633477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Error Handling – Auth Service (authService.ts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44 export const </a:t>
            </a:r>
            <a:r>
              <a:rPr dirty="0" err="1"/>
              <a:t>signIn</a:t>
            </a:r>
            <a:r>
              <a:rPr dirty="0"/>
              <a:t> = async (email: string, password: string) =&gt; {</a:t>
            </a:r>
            <a:br>
              <a:rPr dirty="0"/>
            </a:br>
            <a:r>
              <a:rPr dirty="0"/>
              <a:t>45   try {</a:t>
            </a:r>
            <a:br>
              <a:rPr dirty="0"/>
            </a:br>
            <a:r>
              <a:rPr dirty="0"/>
              <a:t>46     const </a:t>
            </a:r>
            <a:r>
              <a:rPr dirty="0" err="1"/>
              <a:t>userCredential</a:t>
            </a:r>
            <a:r>
              <a:rPr dirty="0"/>
              <a:t> = await </a:t>
            </a:r>
            <a:r>
              <a:rPr dirty="0" err="1"/>
              <a:t>signInWithEmailAndPassword</a:t>
            </a:r>
            <a:r>
              <a:rPr dirty="0"/>
              <a:t>(auth, email, password);</a:t>
            </a:r>
            <a:br>
              <a:rPr dirty="0"/>
            </a:br>
            <a:r>
              <a:rPr dirty="0"/>
              <a:t>47     return </a:t>
            </a:r>
            <a:r>
              <a:rPr dirty="0" err="1"/>
              <a:t>userCredential.user</a:t>
            </a:r>
            <a:r>
              <a:rPr dirty="0"/>
              <a:t>;</a:t>
            </a:r>
            <a:br>
              <a:rPr dirty="0"/>
            </a:br>
            <a:r>
              <a:rPr dirty="0"/>
              <a:t>48   } catch (error: any) {</a:t>
            </a:r>
            <a:br>
              <a:rPr dirty="0"/>
            </a:br>
            <a:r>
              <a:rPr dirty="0"/>
              <a:t>49     throw new Error(</a:t>
            </a:r>
            <a:r>
              <a:rPr dirty="0" err="1"/>
              <a:t>error.message</a:t>
            </a:r>
            <a:r>
              <a:rPr dirty="0"/>
              <a:t> || 'Failed to sign in');</a:t>
            </a:r>
            <a:br>
              <a:rPr dirty="0"/>
            </a:br>
            <a:r>
              <a:rPr dirty="0"/>
              <a:t>50   }</a:t>
            </a:r>
            <a:br>
              <a:rPr dirty="0"/>
            </a:br>
            <a:r>
              <a:rPr dirty="0"/>
              <a:t>51 };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Errors from Firebase are caught and wrapped in a readable Error object.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Components can display these messages in the UI (e.g., under the login form).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Centralizing error handling keeps components clean.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Critical for real-world reliability and debuggability.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DD16C4-A623-A64E-CE5A-1C481AC8D6C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LineChart – Monthly Emission Trend (Dashboard.tsx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96 &lt;</a:t>
            </a:r>
            <a:r>
              <a:rPr dirty="0" err="1"/>
              <a:t>ResponsiveContainer</a:t>
            </a:r>
            <a:r>
              <a:rPr dirty="0"/>
              <a:t> width="100%" height={300}&gt;</a:t>
            </a:r>
            <a:br>
              <a:rPr dirty="0"/>
            </a:br>
            <a:r>
              <a:rPr dirty="0"/>
              <a:t>97   &lt;</a:t>
            </a:r>
            <a:r>
              <a:rPr dirty="0" err="1"/>
              <a:t>LineChart</a:t>
            </a:r>
            <a:r>
              <a:rPr dirty="0"/>
              <a:t> data={</a:t>
            </a:r>
            <a:r>
              <a:rPr dirty="0" err="1"/>
              <a:t>monthlyTrend</a:t>
            </a:r>
            <a:r>
              <a:rPr dirty="0"/>
              <a:t>}&gt;</a:t>
            </a:r>
            <a:br>
              <a:rPr dirty="0"/>
            </a:br>
            <a:r>
              <a:rPr dirty="0"/>
              <a:t>98     &lt;</a:t>
            </a:r>
            <a:r>
              <a:rPr dirty="0" err="1"/>
              <a:t>CartesianGrid</a:t>
            </a:r>
            <a:r>
              <a:rPr dirty="0"/>
              <a:t> </a:t>
            </a:r>
            <a:r>
              <a:rPr dirty="0" err="1"/>
              <a:t>strokeDasharray</a:t>
            </a:r>
            <a:r>
              <a:rPr dirty="0"/>
              <a:t>="3 3" /&gt;</a:t>
            </a:r>
            <a:br>
              <a:rPr dirty="0"/>
            </a:br>
            <a:r>
              <a:rPr dirty="0"/>
              <a:t>99     &lt;</a:t>
            </a:r>
            <a:r>
              <a:rPr dirty="0" err="1"/>
              <a:t>XAxis</a:t>
            </a:r>
            <a:r>
              <a:rPr dirty="0"/>
              <a:t> </a:t>
            </a:r>
            <a:r>
              <a:rPr dirty="0" err="1"/>
              <a:t>dataKey</a:t>
            </a:r>
            <a:r>
              <a:rPr dirty="0"/>
              <a:t>="month" /&gt;</a:t>
            </a:r>
            <a:br>
              <a:rPr dirty="0"/>
            </a:br>
            <a:r>
              <a:rPr dirty="0"/>
              <a:t>100    &lt;</a:t>
            </a:r>
            <a:r>
              <a:rPr dirty="0" err="1"/>
              <a:t>YAxis</a:t>
            </a:r>
            <a:r>
              <a:rPr dirty="0"/>
              <a:t> /&gt;</a:t>
            </a:r>
            <a:br>
              <a:rPr dirty="0"/>
            </a:br>
            <a:r>
              <a:rPr dirty="0"/>
              <a:t>101    &lt;Tooltip /&gt;</a:t>
            </a:r>
            <a:br>
              <a:rPr dirty="0"/>
            </a:br>
            <a:r>
              <a:rPr dirty="0"/>
              <a:t>102    &lt;Legend /&gt;</a:t>
            </a:r>
            <a:br>
              <a:rPr dirty="0"/>
            </a:br>
            <a:r>
              <a:rPr dirty="0"/>
              <a:t>103    &lt;Line type="monotone" </a:t>
            </a:r>
            <a:r>
              <a:rPr dirty="0" err="1"/>
              <a:t>dataKey</a:t>
            </a:r>
            <a:r>
              <a:rPr dirty="0"/>
              <a:t>="total" stroke="#00a86b" </a:t>
            </a:r>
            <a:r>
              <a:rPr dirty="0" err="1"/>
              <a:t>strokeWidth</a:t>
            </a:r>
            <a:r>
              <a:rPr dirty="0"/>
              <a:t>={2} /&gt;</a:t>
            </a:r>
            <a:br>
              <a:rPr dirty="0"/>
            </a:br>
            <a:r>
              <a:rPr dirty="0"/>
              <a:t>104  &lt;/</a:t>
            </a:r>
            <a:r>
              <a:rPr dirty="0" err="1"/>
              <a:t>LineChart</a:t>
            </a:r>
            <a:r>
              <a:rPr dirty="0"/>
              <a:t>&gt;</a:t>
            </a:r>
            <a:br>
              <a:rPr dirty="0"/>
            </a:br>
            <a:r>
              <a:rPr dirty="0"/>
              <a:t>105 &lt;/</a:t>
            </a:r>
            <a:r>
              <a:rPr dirty="0" err="1"/>
              <a:t>ResponsiveContainer</a:t>
            </a:r>
            <a:r>
              <a:rPr dirty="0"/>
              <a:t>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LineChart</a:t>
            </a:r>
            <a:r>
              <a:rPr dirty="0"/>
              <a:t> visualizes how emissions change month by month.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ResponsiveContainer</a:t>
            </a:r>
            <a:r>
              <a:rPr dirty="0"/>
              <a:t> ensures charts adapt to card/container width.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Tooltip and Legend improve readability for end users.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Color choice (#00a86b) matches the sustainability branding.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33750-EEBC-37D4-D878-54E6C028C25E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BarChart – Category Breakdown (Dashboard.tsx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120 &lt;</a:t>
            </a:r>
            <a:r>
              <a:rPr dirty="0" err="1"/>
              <a:t>ResponsiveContainer</a:t>
            </a:r>
            <a:r>
              <a:rPr dirty="0"/>
              <a:t> width="100%" height={300}&gt;</a:t>
            </a:r>
            <a:br>
              <a:rPr dirty="0"/>
            </a:br>
            <a:r>
              <a:rPr dirty="0"/>
              <a:t>121   &lt;BarChart data={</a:t>
            </a:r>
            <a:r>
              <a:rPr dirty="0" err="1"/>
              <a:t>categoryChartData</a:t>
            </a:r>
            <a:r>
              <a:rPr dirty="0"/>
              <a:t>}&gt;</a:t>
            </a:r>
            <a:br>
              <a:rPr dirty="0"/>
            </a:br>
            <a:r>
              <a:rPr dirty="0"/>
              <a:t>122     &lt;</a:t>
            </a:r>
            <a:r>
              <a:rPr dirty="0" err="1"/>
              <a:t>CartesianGrid</a:t>
            </a:r>
            <a:r>
              <a:rPr dirty="0"/>
              <a:t> </a:t>
            </a:r>
            <a:r>
              <a:rPr dirty="0" err="1"/>
              <a:t>strokeDasharray</a:t>
            </a:r>
            <a:r>
              <a:rPr dirty="0"/>
              <a:t>="3 3" /&gt;</a:t>
            </a:r>
            <a:br>
              <a:rPr dirty="0"/>
            </a:br>
            <a:r>
              <a:rPr dirty="0"/>
              <a:t>123     &lt;</a:t>
            </a:r>
            <a:r>
              <a:rPr dirty="0" err="1"/>
              <a:t>XAxis</a:t>
            </a:r>
            <a:r>
              <a:rPr dirty="0"/>
              <a:t> </a:t>
            </a:r>
            <a:r>
              <a:rPr dirty="0" err="1"/>
              <a:t>dataKey</a:t>
            </a:r>
            <a:r>
              <a:rPr dirty="0"/>
              <a:t>="name" /&gt;</a:t>
            </a:r>
            <a:br>
              <a:rPr dirty="0"/>
            </a:br>
            <a:r>
              <a:rPr dirty="0"/>
              <a:t>124     &lt;</a:t>
            </a:r>
            <a:r>
              <a:rPr dirty="0" err="1"/>
              <a:t>YAxis</a:t>
            </a:r>
            <a:r>
              <a:rPr dirty="0"/>
              <a:t> /&gt;</a:t>
            </a:r>
            <a:br>
              <a:rPr dirty="0"/>
            </a:br>
            <a:r>
              <a:rPr dirty="0"/>
              <a:t>125     &lt;Tooltip /&gt;</a:t>
            </a:r>
            <a:br>
              <a:rPr dirty="0"/>
            </a:br>
            <a:r>
              <a:rPr dirty="0"/>
              <a:t>126     &lt;Bar </a:t>
            </a:r>
            <a:r>
              <a:rPr dirty="0" err="1"/>
              <a:t>dataKey</a:t>
            </a:r>
            <a:r>
              <a:rPr dirty="0"/>
              <a:t>="value" radius={[8, 8, 0, 0]} /&gt;</a:t>
            </a:r>
            <a:br>
              <a:rPr dirty="0"/>
            </a:br>
            <a:r>
              <a:rPr dirty="0"/>
              <a:t>127   &lt;/BarChart&gt;</a:t>
            </a:r>
            <a:br>
              <a:rPr dirty="0"/>
            </a:br>
            <a:r>
              <a:rPr dirty="0"/>
              <a:t>128 &lt;/</a:t>
            </a:r>
            <a:r>
              <a:rPr dirty="0" err="1"/>
              <a:t>ResponsiveContainer</a:t>
            </a:r>
            <a:r>
              <a:rPr dirty="0"/>
              <a:t>&gt;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BarChart compares emissions by category (electricity, fuel, water, waste, travel).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radius creates rounded tops for a modern look.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Data is pre-aggregated from emission records.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Helps users quickly identify the biggest emission sources.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A8D384-15C0-820C-6FC3-2F0FCA0D6645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Connecting State to Charts – Derived Data (Dashboard.tsx Excerpt)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30 const </a:t>
            </a:r>
            <a:r>
              <a:rPr dirty="0" err="1"/>
              <a:t>monthlyTrend</a:t>
            </a:r>
            <a:r>
              <a:rPr dirty="0"/>
              <a:t> = </a:t>
            </a:r>
            <a:r>
              <a:rPr dirty="0" err="1"/>
              <a:t>React.useMemo</a:t>
            </a:r>
            <a:r>
              <a:rPr dirty="0"/>
              <a:t>(</a:t>
            </a:r>
            <a:br>
              <a:rPr dirty="0"/>
            </a:br>
            <a:r>
              <a:rPr dirty="0"/>
              <a:t>31   () =&gt; </a:t>
            </a:r>
            <a:r>
              <a:rPr dirty="0" err="1"/>
              <a:t>buildMonthlyTrend</a:t>
            </a:r>
            <a:r>
              <a:rPr dirty="0"/>
              <a:t>(records, </a:t>
            </a:r>
            <a:r>
              <a:rPr dirty="0" err="1"/>
              <a:t>selectedYear</a:t>
            </a:r>
            <a:r>
              <a:rPr dirty="0"/>
              <a:t>),</a:t>
            </a:r>
            <a:br>
              <a:rPr dirty="0"/>
            </a:br>
            <a:r>
              <a:rPr dirty="0"/>
              <a:t>32   [records, </a:t>
            </a:r>
            <a:r>
              <a:rPr dirty="0" err="1"/>
              <a:t>selectedYear</a:t>
            </a:r>
            <a:r>
              <a:rPr dirty="0"/>
              <a:t>]</a:t>
            </a:r>
            <a:br>
              <a:rPr dirty="0"/>
            </a:br>
            <a:r>
              <a:rPr dirty="0"/>
              <a:t>33 );</a:t>
            </a:r>
            <a:br>
              <a:rPr dirty="0"/>
            </a:br>
            <a:r>
              <a:rPr dirty="0"/>
              <a:t>34 const </a:t>
            </a:r>
            <a:r>
              <a:rPr dirty="0" err="1"/>
              <a:t>categoryChartData</a:t>
            </a:r>
            <a:r>
              <a:rPr dirty="0"/>
              <a:t> = </a:t>
            </a:r>
            <a:r>
              <a:rPr dirty="0" err="1"/>
              <a:t>React.useMemo</a:t>
            </a:r>
            <a:r>
              <a:rPr dirty="0"/>
              <a:t>(</a:t>
            </a:r>
            <a:br>
              <a:rPr dirty="0"/>
            </a:br>
            <a:r>
              <a:rPr dirty="0"/>
              <a:t>35   () =&gt; </a:t>
            </a:r>
            <a:r>
              <a:rPr dirty="0" err="1"/>
              <a:t>buildCategoryBreakdown</a:t>
            </a:r>
            <a:r>
              <a:rPr dirty="0"/>
              <a:t>(records, </a:t>
            </a:r>
            <a:r>
              <a:rPr dirty="0" err="1"/>
              <a:t>selectedYear</a:t>
            </a:r>
            <a:r>
              <a:rPr dirty="0"/>
              <a:t>, </a:t>
            </a:r>
            <a:r>
              <a:rPr dirty="0" err="1"/>
              <a:t>selectedMonth</a:t>
            </a:r>
            <a:r>
              <a:rPr dirty="0"/>
              <a:t>),</a:t>
            </a:r>
            <a:br>
              <a:rPr dirty="0"/>
            </a:br>
            <a:r>
              <a:rPr dirty="0"/>
              <a:t>36   [records, </a:t>
            </a:r>
            <a:r>
              <a:rPr dirty="0" err="1"/>
              <a:t>selectedYear</a:t>
            </a:r>
            <a:r>
              <a:rPr dirty="0"/>
              <a:t>, </a:t>
            </a:r>
            <a:r>
              <a:rPr dirty="0" err="1"/>
              <a:t>selectedMonth</a:t>
            </a:r>
            <a:r>
              <a:rPr dirty="0"/>
              <a:t>]</a:t>
            </a:r>
            <a:br>
              <a:rPr dirty="0"/>
            </a:br>
            <a:r>
              <a:rPr dirty="0"/>
              <a:t>37 );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Charts receive data derived from raw records and filters.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 err="1"/>
              <a:t>useMemo</a:t>
            </a:r>
            <a:r>
              <a:rPr dirty="0"/>
              <a:t> prevents unnecessary recalculation when inputs haven't changed.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State (records + </a:t>
            </a:r>
            <a:r>
              <a:rPr dirty="0" err="1"/>
              <a:t>selectedYear</a:t>
            </a:r>
            <a:r>
              <a:rPr dirty="0"/>
              <a:t>/Month) fully drives the visualization layer.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This is a core pattern for building reactive analytics dashboards.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1F6B8-B35F-9FC2-25B2-79C5D5E15EED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0785A"/>
                </a:solidFill>
              </a:defRPr>
            </a:pPr>
            <a:r>
              <a:t>Full Stack Flow – From Route to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marL="0" indent="0">
              <a:buNone/>
              <a:defRPr sz="1800">
                <a:solidFill>
                  <a:srgbClr val="1E1E1E"/>
                </a:solidFill>
                <a:latin typeface="Consolas"/>
              </a:defRPr>
            </a:pPr>
            <a:r>
              <a:rPr dirty="0"/>
              <a:t>• User navigates to '/' → </a:t>
            </a:r>
            <a:r>
              <a:rPr dirty="0" err="1"/>
              <a:t>ProtectedRoute</a:t>
            </a:r>
            <a:r>
              <a:rPr dirty="0"/>
              <a:t> checks authentication.</a:t>
            </a:r>
            <a:br>
              <a:rPr dirty="0"/>
            </a:br>
            <a:r>
              <a:rPr dirty="0"/>
              <a:t>• </a:t>
            </a:r>
            <a:r>
              <a:rPr dirty="0" err="1"/>
              <a:t>AppStore.loadRecords</a:t>
            </a:r>
            <a:r>
              <a:rPr dirty="0"/>
              <a:t>() fetches </a:t>
            </a:r>
            <a:r>
              <a:rPr dirty="0" err="1"/>
              <a:t>Firestore</a:t>
            </a:r>
            <a:r>
              <a:rPr dirty="0"/>
              <a:t> emission records.</a:t>
            </a:r>
            <a:br>
              <a:rPr dirty="0"/>
            </a:br>
            <a:r>
              <a:rPr dirty="0"/>
              <a:t>• Derived data (</a:t>
            </a:r>
            <a:r>
              <a:rPr dirty="0" err="1"/>
              <a:t>monthlyTrend</a:t>
            </a:r>
            <a:r>
              <a:rPr dirty="0"/>
              <a:t>, </a:t>
            </a:r>
            <a:r>
              <a:rPr dirty="0" err="1"/>
              <a:t>categoryChartData</a:t>
            </a:r>
            <a:r>
              <a:rPr dirty="0"/>
              <a:t>) computed via helpers.</a:t>
            </a:r>
            <a:br>
              <a:rPr dirty="0"/>
            </a:br>
            <a:r>
              <a:rPr dirty="0"/>
              <a:t>• React components render </a:t>
            </a:r>
            <a:r>
              <a:rPr dirty="0" err="1"/>
              <a:t>KPICards</a:t>
            </a:r>
            <a:r>
              <a:rPr dirty="0"/>
              <a:t> and Recharts charts for visualization.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endParaRPr dirty="0"/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Routing controls which screen the user sees at any moment.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Async data fetching (</a:t>
            </a:r>
            <a:r>
              <a:rPr dirty="0" err="1"/>
              <a:t>Firestore</a:t>
            </a:r>
            <a:r>
              <a:rPr dirty="0"/>
              <a:t>) supplies the raw emissions data.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Derived state powers charts and KPIs through pure functions.</a:t>
            </a:r>
          </a:p>
          <a:p>
            <a:pPr lvl="1">
              <a:buFont typeface="Wingdings" panose="05000000000000000000" pitchFamily="2" charset="2"/>
              <a:buChar char="§"/>
              <a:defRPr sz="1800">
                <a:solidFill>
                  <a:srgbClr val="1E1E1E"/>
                </a:solidFill>
              </a:defRPr>
            </a:pPr>
            <a:r>
              <a:rPr dirty="0"/>
              <a:t>The result is a cohesive, interactive full-stack carbon tracking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65760"/>
            <a:ext cx="137160" cy="73152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CBA16-30C0-3B91-5F14-0A0128FB4FF9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C5A4B"/>
                </a:solidFill>
              </a:defRPr>
            </a:pPr>
            <a:r>
              <a:rPr dirty="0"/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005A46"/>
                </a:solidFill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005A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Full Stack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🖥️  Frontend: React + TypeScript + Tailwind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📱  State Management: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Zustand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global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747697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☁️  Backend: Firebase Authentication + Firestore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9227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🔌  API Layer: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Firestore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SDK with async/await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036851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📊  Analytics Layer: Recharts data visualization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6814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🔄  App Flow: User Login → Data Entry → Storage → Dashboard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318511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🧱  Architecture Type: Component-driven SPA with cloud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rgbClr val="005A46"/>
                </a:solidFill>
              </a:defRPr>
            </a:pPr>
            <a:r>
              <a:rPr kumimoji="0" sz="4400" b="1" i="0" u="none" strike="noStrike" kern="1200" cap="none" spc="0" normalizeH="0" baseline="0" noProof="0" dirty="0">
                <a:ln>
                  <a:noFill/>
                </a:ln>
                <a:solidFill>
                  <a:srgbClr val="005A46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Conclusion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✅  Smart Carbon Tracker delivers real-time carbon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🌍  Helps businesses improve sustainability &amp; ESG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📈  Provides interactive dashboards &amp; emissions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🤖  AI-driven emission predictions &amp;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🔗  IoT sensor integration for real-time fuel/electricity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4708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🧾  Automated ESG reporting &amp; PDF export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365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>
                <a:solidFill>
                  <a:srgbClr val="1E4637"/>
                </a:solidFill>
              </a:defRPr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1E463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⚡  Offline support, PWA capabilities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8A75EC-F304-E929-C2D3-EEF3C8A87F6C}"/>
              </a:ext>
            </a:extLst>
          </p:cNvPr>
          <p:cNvSpPr txBox="1"/>
          <p:nvPr/>
        </p:nvSpPr>
        <p:spPr>
          <a:xfrm>
            <a:off x="274320" y="6492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3C5A4B"/>
                </a:solidFill>
              </a:defRPr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3C5A4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🌱 Smart Carbon Tracker • Full Stack Sustainability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7154</Words>
  <Application>Microsoft Office PowerPoint</Application>
  <PresentationFormat>On-screen Show (4:3)</PresentationFormat>
  <Paragraphs>577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0" baseType="lpstr">
      <vt:lpstr>Aptos</vt:lpstr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HTML Deep Dive (Slides 1–10)</vt:lpstr>
      <vt:lpstr>HTML Structure – index.html (Lines 1–6)</vt:lpstr>
      <vt:lpstr>Meta Tags &amp; SEO – index.html (Lines 4–6)</vt:lpstr>
      <vt:lpstr>Favicon &amp; Fonts – index.html (Lines 7–10)</vt:lpstr>
      <vt:lpstr>React Mount Point – index.html (Lines 13–15)</vt:lpstr>
      <vt:lpstr>Semantic Layout via React – App.tsx (Excerpt)</vt:lpstr>
      <vt:lpstr>Login Form Structure – Login.tsx (Lines 75–84)</vt:lpstr>
      <vt:lpstr>Navigation Links – Navbar.tsx (Lines 48–55)</vt:lpstr>
      <vt:lpstr>Dashboard Layout – Dashboard.tsx (Excerpt)</vt:lpstr>
      <vt:lpstr>HTML Section Summary</vt:lpstr>
      <vt:lpstr>CSS Architecture Overview – Tailwind Setup</vt:lpstr>
      <vt:lpstr>CSS Selectors via Utility Classes (globals.css)</vt:lpstr>
      <vt:lpstr>Box Model – Spacing, Borders, Shadows</vt:lpstr>
      <vt:lpstr>Flexbox – Navbar Layout (Navbar.tsx)</vt:lpstr>
      <vt:lpstr>CSS Grid – Dashboard Card Layout (Dashboard.tsx Lines 20–25)</vt:lpstr>
      <vt:lpstr>Responsive Design – Tailwind Breakpoints</vt:lpstr>
      <vt:lpstr>Positioning Utilities – Mobile Menu (Navbar.tsx)</vt:lpstr>
      <vt:lpstr>Transitions &amp; Animations – KPICard Hover Effect</vt:lpstr>
      <vt:lpstr>Tailwind Animations – Keyframes (tailwind.config.js)</vt:lpstr>
      <vt:lpstr>Dark Mode Implementation – App.tsx + Tailwind</vt:lpstr>
      <vt:lpstr>ES6 Variables – let &amp; const (helpers.ts Lines 1–6)</vt:lpstr>
      <vt:lpstr>Arrow Functions – formatNumber() (helpers.ts Lines 6–14)</vt:lpstr>
      <vt:lpstr>Template Literals – Dynamic Strings (helpers.ts Lines 52–54)</vt:lpstr>
      <vt:lpstr>Object Destructuring – FormInput Props (FormInput.tsx Lines 19–25)</vt:lpstr>
      <vt:lpstr>Spread Operator – Updating State (appStore.ts Lines 84–86)</vt:lpstr>
      <vt:lpstr>Array.map() – Transforming Data (emissions.ts Lines 67–69)</vt:lpstr>
      <vt:lpstr>Array.filter() – Date Filtering (emissions.ts Lines 203–208)</vt:lpstr>
      <vt:lpstr>Array.reduce() – Sum CO₂ Emissions (emissions.ts Lines 5–6)</vt:lpstr>
      <vt:lpstr>Promises – Firestore Data Fetching (firestoreService.ts Lines 53–58)</vt:lpstr>
      <vt:lpstr>Async/Await – User Signup (authService.ts Lines 23–39)</vt:lpstr>
      <vt:lpstr>DOM Manipulation in React – Virtual DOM (App.tsx Excerpt)</vt:lpstr>
      <vt:lpstr>Event Handling – Form Submission (Login.tsx Lines 25–35)</vt:lpstr>
      <vt:lpstr>Event Handling – OnChange (Login.tsx Lines 36–42)</vt:lpstr>
      <vt:lpstr>localStorage – Persisting Theme (appStore.ts Lines 159–166)</vt:lpstr>
      <vt:lpstr>TypeScript Interfaces – EmissionRecord (types/index.ts Lines 1–12)</vt:lpstr>
      <vt:lpstr>Type Annotations – Helper Function (helpers.ts Lines 1–6)</vt:lpstr>
      <vt:lpstr>Union Types – Severity Levels (types/index.ts Lines 33–37)</vt:lpstr>
      <vt:lpstr>Generics – groupBy&lt;T&gt; (helpers.ts Lines 140–149)</vt:lpstr>
      <vt:lpstr>Utility Types – Partial&lt;T&gt; (appStore.ts Lines 38–40)</vt:lpstr>
      <vt:lpstr>Type Assertions – Firestore Cast (firestoreService.ts Line 57)</vt:lpstr>
      <vt:lpstr>JSX Rendering – App Component (App.tsx Lines 24–34)</vt:lpstr>
      <vt:lpstr>Functional Components – KPICard (KPICard.tsx Lines 1–12)</vt:lpstr>
      <vt:lpstr>Props Usage – Passing Data into Components (KPICard.tsx Lines 13–20)</vt:lpstr>
      <vt:lpstr>useState – Local Component State (Dashboard.tsx Lines 11–12)</vt:lpstr>
      <vt:lpstr>useEffect – Side Effects (App.tsx Lines 22–34)</vt:lpstr>
      <vt:lpstr>Lifting State Up – Shared State (Dashboard → Components)</vt:lpstr>
      <vt:lpstr>Controlled Inputs – Login Form (Login.tsx Lines 75–83)</vt:lpstr>
      <vt:lpstr>Custom Hooks – Zustand Store Wrapper (appStore.ts Lines 33–50)</vt:lpstr>
      <vt:lpstr>useMemo – Performance Optimization (Dashboard.tsx Lines 23–28)</vt:lpstr>
      <vt:lpstr>Component Lifecycle via Hooks (App.tsx &amp; Dashboard)</vt:lpstr>
      <vt:lpstr>React Router – App Routes (App.tsx Lines 45–61)</vt:lpstr>
      <vt:lpstr>ProtectedRoute – Route Guard (ProtectedRoute.tsx Lines 1–17)</vt:lpstr>
      <vt:lpstr>Programmatic Navigation – useNavigate (Login.tsx Excerpt)</vt:lpstr>
      <vt:lpstr>Data Layer – Firestore Query (firestoreService.ts Lines 53–60)</vt:lpstr>
      <vt:lpstr>Async Data Loading – Zustand Store (appStore.ts Excerpt)</vt:lpstr>
      <vt:lpstr>Error Handling – Auth Service (authService.ts Excerpt)</vt:lpstr>
      <vt:lpstr>LineChart – Monthly Emission Trend (Dashboard.tsx Excerpt)</vt:lpstr>
      <vt:lpstr>BarChart – Category Breakdown (Dashboard.tsx Excerpt)</vt:lpstr>
      <vt:lpstr>Connecting State to Charts – Derived Data (Dashboard.tsx Excerpt)</vt:lpstr>
      <vt:lpstr>Full Stack Flow – From Route to Chart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Harishram Gandhiram</dc:creator>
  <cp:keywords/>
  <dc:description>generated using python-pptx</dc:description>
  <cp:lastModifiedBy>Harishram Gandhiram</cp:lastModifiedBy>
  <cp:revision>2</cp:revision>
  <dcterms:created xsi:type="dcterms:W3CDTF">2013-01-27T09:14:16Z</dcterms:created>
  <dcterms:modified xsi:type="dcterms:W3CDTF">2025-12-04T06:23:18Z</dcterms:modified>
  <cp:category/>
</cp:coreProperties>
</file>